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han Emre Tunc" userId="9d7fa94427810a51" providerId="LiveId" clId="{4CDFD833-A8BB-401A-B4AD-7B2DC9215D41}"/>
    <pc:docChg chg="undo custSel modSld">
      <pc:chgData name="Alihan Emre Tunc" userId="9d7fa94427810a51" providerId="LiveId" clId="{4CDFD833-A8BB-401A-B4AD-7B2DC9215D41}" dt="2026-10-09T08:34:17.354" v="13" actId="20577"/>
      <pc:docMkLst>
        <pc:docMk/>
      </pc:docMkLst>
      <pc:sldChg chg="modSp mod">
        <pc:chgData name="Alihan Emre Tunc" userId="9d7fa94427810a51" providerId="LiveId" clId="{4CDFD833-A8BB-401A-B4AD-7B2DC9215D41}" dt="2026-10-09T08:34:17.354" v="13" actId="20577"/>
        <pc:sldMkLst>
          <pc:docMk/>
          <pc:sldMk cId="0" sldId="256"/>
        </pc:sldMkLst>
        <pc:spChg chg="mod">
          <ac:chgData name="Alihan Emre Tunc" userId="9d7fa94427810a51" providerId="LiveId" clId="{4CDFD833-A8BB-401A-B4AD-7B2DC9215D41}" dt="2026-10-09T08:34:17.354" v="13" actId="20577"/>
          <ac:spMkLst>
            <pc:docMk/>
            <pc:sldMk cId="0" sldId="256"/>
            <ac:spMk id="9" creationId="{00000000-0000-0000-0000-000000000000}"/>
          </ac:spMkLst>
        </pc:spChg>
      </pc:sldChg>
      <pc:sldChg chg="modSp mod">
        <pc:chgData name="Alihan Emre Tunc" userId="9d7fa94427810a51" providerId="LiveId" clId="{4CDFD833-A8BB-401A-B4AD-7B2DC9215D41}" dt="2026-10-09T08:34:16.898" v="12" actId="20577"/>
        <pc:sldMkLst>
          <pc:docMk/>
          <pc:sldMk cId="0" sldId="257"/>
        </pc:sldMkLst>
        <pc:spChg chg="mod">
          <ac:chgData name="Alihan Emre Tunc" userId="9d7fa94427810a51" providerId="LiveId" clId="{4CDFD833-A8BB-401A-B4AD-7B2DC9215D41}" dt="2026-10-09T08:34:16.898" v="12" actId="20577"/>
          <ac:spMkLst>
            <pc:docMk/>
            <pc:sldMk cId="0" sldId="257"/>
            <ac:spMk id="18" creationId="{00000000-0000-0000-0000-000000000000}"/>
          </ac:spMkLst>
        </pc:spChg>
      </pc:sldChg>
      <pc:sldChg chg="modSp mod">
        <pc:chgData name="Alihan Emre Tunc" userId="9d7fa94427810a51" providerId="LiveId" clId="{4CDFD833-A8BB-401A-B4AD-7B2DC9215D41}" dt="2026-10-09T08:34:16.145" v="10" actId="20577"/>
        <pc:sldMkLst>
          <pc:docMk/>
          <pc:sldMk cId="0" sldId="258"/>
        </pc:sldMkLst>
        <pc:spChg chg="mod">
          <ac:chgData name="Alihan Emre Tunc" userId="9d7fa94427810a51" providerId="LiveId" clId="{4CDFD833-A8BB-401A-B4AD-7B2DC9215D41}" dt="2026-10-09T08:34:16.145" v="10" actId="20577"/>
          <ac:spMkLst>
            <pc:docMk/>
            <pc:sldMk cId="0" sldId="258"/>
            <ac:spMk id="7" creationId="{00000000-0000-0000-0000-000000000000}"/>
          </ac:spMkLst>
        </pc:spChg>
      </pc:sldChg>
      <pc:sldChg chg="modSp mod">
        <pc:chgData name="Alihan Emre Tunc" userId="9d7fa94427810a51" providerId="LiveId" clId="{4CDFD833-A8BB-401A-B4AD-7B2DC9215D41}" dt="2026-10-09T08:34:15.019" v="8" actId="20577"/>
        <pc:sldMkLst>
          <pc:docMk/>
          <pc:sldMk cId="0" sldId="259"/>
        </pc:sldMkLst>
        <pc:spChg chg="mod">
          <ac:chgData name="Alihan Emre Tunc" userId="9d7fa94427810a51" providerId="LiveId" clId="{4CDFD833-A8BB-401A-B4AD-7B2DC9215D41}" dt="2026-10-09T08:34:15.019" v="8" actId="20577"/>
          <ac:spMkLst>
            <pc:docMk/>
            <pc:sldMk cId="0" sldId="259"/>
            <ac:spMk id="1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9887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setting expectations: this is a demo on synthetic data shaped like Oracle Fusion P2P tables. The goal is to show the method end to end (data, event log, process mining, findings, recommendations), not to present findings about the client. Then hand over to the live tool or go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the same ones we would follow on the real project. Stress that step 2, the event log, is the main asset: it is tool-agnostic, so the same file could go into Celonis or Microsoft. Repeat clearly that the data is synthetic.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ETL step, our core strength. Every event in the log carries a source_table column, so any number in the dashboard can be traced back to the Oracle table it came from. Mention the design choice: one case is one PO line, and header-level events such as approvals are copied to each line of that PO.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tool here and show the full process map with case count. Point at the main path and at the side paths. Key message: only about a third of PO lines follow the standard path; the other two thirds take a detour of some kind, and the next slides show which detours matter.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tool: switch the map to mean duration. The step from Submit Requisition to Approve Requisition stands out. Then filter the resource to APPR.OPS_DIRECTOR to show the 8-day average against under 2 days for everyone else. Framing: this is a capacity or delegation problem, not a people problem.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tool: filter cases where Receive Invoice comes before Create PO, or show the variant that starts with Receive Invoice. These are after-the-fact POs, sometimes called maverick buying. The 303 lines without a requisition come from the has_requisition attribute.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tool: filter cases that include any Invoice Hold activity, then use Process compare against cases without holds. Not yet received is the most frequent hold: the invoice arrives before anyone records the receipt. VAT mismatch is the rarest but stays on hold longest, about a week.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tool: filter on the execution_type attribute. Manual means the user is a person; automated means a system account (users starting with SYS_ in this demo). Approvals, requisitions and receipts are manual by design, so the table only lists steps that could realistically be automated. With real data we need the client to confirm which Oracle user IDs are system accounts.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analytical honesty: the obvious explanation (holds cause late payment) does not hold up in this dataset. In the tool, filter paid_on_time = No and compare with and without hold activities. The point for Cristina: we test causes against the data instead of assuming them.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four recommendations in one breath. All of them are changes to rules, policy or configuration: none requires changing Oracle itself, which matches the analysis-only scope of this phase. Make clear the ranking will be redone on real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we know where real projects get hard. The case definition point is the most important: approval delays are best seen per PO line, invoice exceptions per invoice, and non-PO invoices need their own view. Customizations matter because the client's Oracle Fusion is partially customized.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what she needs from us to move forward, and confirm who at the client can provide the Oracle extracts. Leave pricing to Omer. If she asks about tools: the event log is tool-agnostic, so the tool choice can wait until we see the data and the licensing costs.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03961"/>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0D0D0D"/>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976121"/>
            <a:ext cx="10566400" cy="4069079"/>
          </a:xfrm>
          <a:prstGeom prst="rect">
            <a:avLst/>
          </a:prstGeom>
          <a:noFill/>
          <a:ln/>
        </p:spPr>
        <p:txBody>
          <a:bodyPr wrap="square" lIns="0" tIns="0" rIns="0" bIns="0" rtlCol="0" anchor="t"/>
          <a:lstStyle>
            <a:lvl1pPr marL="0" indent="0" algn="l">
              <a:lnSpc>
                <a:spcPct val="140000"/>
              </a:lnSpc>
              <a:buNone/>
              <a:defRPr lang="en-US" sz="1600" dirty="0">
                <a:solidFill>
                  <a:srgbClr val="595959"/>
                </a:solidFill>
                <a:latin typeface="Courier New" pitchFamily="34" charset="0"/>
                <a:ea typeface="Courier New" pitchFamily="34" charset="-122"/>
                <a:cs typeface="Courier New"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03961"/>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0D0D0D"/>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976121"/>
            <a:ext cx="10566400" cy="4069079"/>
          </a:xfrm>
          <a:prstGeom prst="rect">
            <a:avLst/>
          </a:prstGeom>
          <a:noFill/>
          <a:ln/>
        </p:spPr>
        <p:txBody>
          <a:bodyPr wrap="square" lIns="0" tIns="0" rIns="0" bIns="0" rtlCol="0" anchor="t"/>
          <a:lstStyle>
            <a:lvl1pPr marL="0" indent="0" algn="l">
              <a:lnSpc>
                <a:spcPct val="140000"/>
              </a:lnSpc>
              <a:buNone/>
              <a:defRPr lang="en-US" sz="1600" dirty="0">
                <a:solidFill>
                  <a:srgbClr val="595959"/>
                </a:solidFill>
                <a:latin typeface="Courier New" pitchFamily="34" charset="0"/>
                <a:ea typeface="Courier New" pitchFamily="34" charset="-122"/>
                <a:cs typeface="Courier New"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825500" y="812800"/>
            <a:ext cx="0" cy="238760"/>
          </a:xfrm>
          <a:prstGeom prst="line">
            <a:avLst/>
          </a:prstGeom>
          <a:noFill/>
          <a:ln w="25400">
            <a:solidFill>
              <a:srgbClr val="DA3A38"/>
            </a:solidFill>
            <a:prstDash val="solid"/>
          </a:ln>
        </p:spPr>
        <p:txBody>
          <a:bodyPr/>
          <a:lstStyle/>
          <a:p>
            <a:endParaRPr lang="en-US"/>
          </a:p>
        </p:txBody>
      </p:sp>
      <p:sp>
        <p:nvSpPr>
          <p:cNvPr id="3" name="Text 1"/>
          <p:cNvSpPr/>
          <p:nvPr/>
        </p:nvSpPr>
        <p:spPr>
          <a:xfrm>
            <a:off x="939800" y="825500"/>
            <a:ext cx="1075258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3B3B3"/>
                </a:solidFill>
                <a:latin typeface="Courier New" pitchFamily="49" charset="0"/>
                <a:ea typeface="Courier New" pitchFamily="49" charset="-122"/>
                <a:cs typeface="Courier New" pitchFamily="49" charset="-120"/>
              </a:rPr>
              <a:t>P2P PROCESS MINING · PROOF OF CONCEPT</a:t>
            </a:r>
            <a:endParaRPr lang="en-US" sz="1200" dirty="0"/>
          </a:p>
        </p:txBody>
      </p:sp>
      <p:sp>
        <p:nvSpPr>
          <p:cNvPr id="4" name="Text 2"/>
          <p:cNvSpPr>
            <a:spLocks noGrp="1"/>
          </p:cNvSpPr>
          <p:nvPr>
            <p:ph type="title"/>
          </p:nvPr>
        </p:nvSpPr>
        <p:spPr>
          <a:xfrm>
            <a:off x="812800" y="2265680"/>
            <a:ext cx="10883392" cy="1590040"/>
          </a:xfrm>
          <a:prstGeom prst="rect">
            <a:avLst/>
          </a:prstGeom>
          <a:noFill/>
          <a:ln/>
        </p:spPr>
        <p:txBody>
          <a:bodyPr wrap="square" lIns="0" tIns="0" rIns="0" bIns="0" rtlCol="0" anchor="t">
            <a:normAutofit/>
          </a:bodyPr>
          <a:lstStyle/>
          <a:p>
            <a:pPr marL="0" indent="0" algn="l">
              <a:lnSpc>
                <a:spcPts val="6160"/>
              </a:lnSpc>
              <a:buNone/>
            </a:pPr>
            <a:r>
              <a:rPr lang="en-US" sz="5600" b="0" i="1" dirty="0">
                <a:solidFill>
                  <a:srgbClr val="FFFFFF"/>
                </a:solidFill>
                <a:latin typeface="Georgia" pitchFamily="18" charset="0"/>
                <a:ea typeface="Georgia" pitchFamily="18" charset="-122"/>
                <a:cs typeface="Georgia" pitchFamily="18" charset="-120"/>
              </a:rPr>
              <a:t>Procure-to-pay, as it actually runs</a:t>
            </a:r>
            <a:r>
              <a:rPr lang="en-US" sz="5600" b="0" i="1" dirty="0">
                <a:solidFill>
                  <a:srgbClr val="DA3A38"/>
                </a:solidFill>
                <a:latin typeface="Georgia" pitchFamily="18" charset="0"/>
                <a:ea typeface="Georgia" pitchFamily="18" charset="-122"/>
                <a:cs typeface="Georgia" pitchFamily="18" charset="-120"/>
              </a:rPr>
              <a:t>.</a:t>
            </a:r>
            <a:endParaRPr lang="en-US" sz="5600" dirty="0"/>
          </a:p>
        </p:txBody>
      </p:sp>
      <p:sp>
        <p:nvSpPr>
          <p:cNvPr id="5" name="Text 3"/>
          <p:cNvSpPr/>
          <p:nvPr/>
        </p:nvSpPr>
        <p:spPr>
          <a:xfrm>
            <a:off x="812800" y="403352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CCCCC"/>
                </a:solidFill>
                <a:latin typeface="Arial" pitchFamily="34" charset="0"/>
                <a:ea typeface="Arial" pitchFamily="34" charset="-122"/>
                <a:cs typeface="Arial" pitchFamily="34" charset="-120"/>
              </a:rPr>
              <a:t>Demo findings from a synthetic Oracle Fusion dataset, mined in Power Automate Process Mining.</a:t>
            </a:r>
            <a:endParaRPr lang="en-US" sz="1600" dirty="0"/>
          </a:p>
        </p:txBody>
      </p:sp>
      <p:sp>
        <p:nvSpPr>
          <p:cNvPr id="6" name="Text 4"/>
          <p:cNvSpPr/>
          <p:nvPr/>
        </p:nvSpPr>
        <p:spPr>
          <a:xfrm>
            <a:off x="812800" y="5532120"/>
            <a:ext cx="149990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3B3B3"/>
                </a:solidFill>
                <a:latin typeface="Courier New" pitchFamily="49" charset="0"/>
                <a:ea typeface="Courier New" pitchFamily="49" charset="-122"/>
                <a:cs typeface="Courier New" pitchFamily="49" charset="-120"/>
              </a:rPr>
              <a:t>PREPARED FOR</a:t>
            </a:r>
            <a:endParaRPr lang="en-US" sz="1200" dirty="0"/>
          </a:p>
        </p:txBody>
      </p:sp>
      <p:sp>
        <p:nvSpPr>
          <p:cNvPr id="7" name="Text 5"/>
          <p:cNvSpPr/>
          <p:nvPr/>
        </p:nvSpPr>
        <p:spPr>
          <a:xfrm>
            <a:off x="812800" y="5796280"/>
            <a:ext cx="1300718"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Arial" pitchFamily="34" charset="0"/>
                <a:ea typeface="Arial" pitchFamily="34" charset="-122"/>
                <a:cs typeface="Arial" pitchFamily="34" charset="-120"/>
              </a:rPr>
              <a:t>Cristina Torres</a:t>
            </a:r>
            <a:endParaRPr lang="en-US" sz="1400" dirty="0"/>
          </a:p>
        </p:txBody>
      </p:sp>
      <p:sp>
        <p:nvSpPr>
          <p:cNvPr id="8" name="Text 6"/>
          <p:cNvSpPr/>
          <p:nvPr/>
        </p:nvSpPr>
        <p:spPr>
          <a:xfrm>
            <a:off x="2672318" y="5532120"/>
            <a:ext cx="1599089"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3B3B3"/>
                </a:solidFill>
                <a:latin typeface="Courier New" pitchFamily="49" charset="0"/>
                <a:ea typeface="Courier New" pitchFamily="49" charset="-122"/>
                <a:cs typeface="Courier New" pitchFamily="49" charset="-120"/>
              </a:rPr>
              <a:t>PREPARED BY</a:t>
            </a:r>
            <a:endParaRPr lang="en-US" sz="1200" dirty="0"/>
          </a:p>
        </p:txBody>
      </p:sp>
      <p:sp>
        <p:nvSpPr>
          <p:cNvPr id="9" name="Text 7"/>
          <p:cNvSpPr/>
          <p:nvPr/>
        </p:nvSpPr>
        <p:spPr>
          <a:xfrm>
            <a:off x="2672318" y="5796280"/>
            <a:ext cx="185794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Arial" pitchFamily="34" charset="0"/>
                <a:ea typeface="Arial" pitchFamily="34" charset="-122"/>
                <a:cs typeface="Arial" pitchFamily="34" charset="-120"/>
              </a:rPr>
              <a:t>Vizio AI · DX Studio</a:t>
            </a:r>
            <a:endParaRPr lang="en-US" sz="1400" dirty="0"/>
          </a:p>
        </p:txBody>
      </p:sp>
      <p:sp>
        <p:nvSpPr>
          <p:cNvPr id="10" name="Text 8"/>
          <p:cNvSpPr/>
          <p:nvPr/>
        </p:nvSpPr>
        <p:spPr>
          <a:xfrm>
            <a:off x="4830207" y="5532120"/>
            <a:ext cx="1128236"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3B3B3"/>
                </a:solidFill>
                <a:latin typeface="Courier New" pitchFamily="49" charset="0"/>
                <a:ea typeface="Courier New" pitchFamily="49" charset="-122"/>
                <a:cs typeface="Courier New" pitchFamily="49" charset="-120"/>
              </a:rPr>
              <a:t>DATE</a:t>
            </a:r>
            <a:endParaRPr lang="en-US" sz="1200" dirty="0"/>
          </a:p>
        </p:txBody>
      </p:sp>
      <p:sp>
        <p:nvSpPr>
          <p:cNvPr id="11" name="Text 9"/>
          <p:cNvSpPr/>
          <p:nvPr/>
        </p:nvSpPr>
        <p:spPr>
          <a:xfrm>
            <a:off x="4830207" y="5796280"/>
            <a:ext cx="129292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Arial" pitchFamily="34" charset="0"/>
                <a:ea typeface="Arial" pitchFamily="34" charset="-122"/>
                <a:cs typeface="Arial" pitchFamily="34" charset="-120"/>
              </a:rPr>
              <a:t>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5500" y="812800"/>
            <a:ext cx="0" cy="238760"/>
          </a:xfrm>
          <a:prstGeom prst="line">
            <a:avLst/>
          </a:prstGeom>
          <a:noFill/>
          <a:ln w="25400">
            <a:solidFill>
              <a:srgbClr val="DA3A38"/>
            </a:solidFill>
            <a:prstDash val="solid"/>
          </a:ln>
        </p:spPr>
        <p:txBody>
          <a:bodyPr/>
          <a:lstStyle/>
          <a:p>
            <a:endParaRPr lang="en-US"/>
          </a:p>
        </p:txBody>
      </p:sp>
      <p:sp>
        <p:nvSpPr>
          <p:cNvPr id="3" name="Text 1"/>
          <p:cNvSpPr/>
          <p:nvPr/>
        </p:nvSpPr>
        <p:spPr>
          <a:xfrm>
            <a:off x="939800" y="825500"/>
            <a:ext cx="1075258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95959"/>
                </a:solidFill>
                <a:latin typeface="Courier New" pitchFamily="49" charset="0"/>
                <a:ea typeface="Courier New" pitchFamily="49" charset="-122"/>
                <a:cs typeface="Courier New" pitchFamily="49" charset="-120"/>
              </a:rPr>
              <a:t>SETUP · 01</a:t>
            </a:r>
            <a:endParaRPr lang="en-US" sz="1200" dirty="0"/>
          </a:p>
        </p:txBody>
      </p:sp>
      <p:sp>
        <p:nvSpPr>
          <p:cNvPr id="4" name="Text 2"/>
          <p:cNvSpPr>
            <a:spLocks noGrp="1"/>
          </p:cNvSpPr>
          <p:nvPr>
            <p:ph type="title"/>
          </p:nvPr>
        </p:nvSpPr>
        <p:spPr>
          <a:xfrm>
            <a:off x="812800" y="120396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0" i="1" dirty="0">
                <a:solidFill>
                  <a:srgbClr val="0D0D0D"/>
                </a:solidFill>
                <a:latin typeface="Georgia" pitchFamily="18" charset="0"/>
                <a:ea typeface="Georgia" pitchFamily="18" charset="-122"/>
                <a:cs typeface="Georgia" pitchFamily="18" charset="-120"/>
              </a:rPr>
              <a:t>What we built for this demo</a:t>
            </a:r>
            <a:r>
              <a:rPr lang="en-US" sz="3200" b="0" i="1" dirty="0">
                <a:solidFill>
                  <a:srgbClr val="DA3A38"/>
                </a:solidFill>
                <a:latin typeface="Georgia" pitchFamily="18" charset="0"/>
                <a:ea typeface="Georgia" pitchFamily="18" charset="-122"/>
                <a:cs typeface="Georgia" pitchFamily="18" charset="-120"/>
              </a:rPr>
              <a:t>.</a:t>
            </a:r>
            <a:endParaRPr lang="en-US" sz="3200" dirty="0"/>
          </a:p>
        </p:txBody>
      </p:sp>
      <p:sp>
        <p:nvSpPr>
          <p:cNvPr id="5" name="Shape 3"/>
          <p:cNvSpPr/>
          <p:nvPr/>
        </p:nvSpPr>
        <p:spPr>
          <a:xfrm>
            <a:off x="815975" y="1979295"/>
            <a:ext cx="3380264" cy="2477770"/>
          </a:xfrm>
          <a:prstGeom prst="rect">
            <a:avLst/>
          </a:prstGeom>
          <a:solidFill>
            <a:srgbClr val="F7F7F7"/>
          </a:solidFill>
          <a:ln w="6350">
            <a:solidFill>
              <a:srgbClr val="0D0D0D">
                <a:alpha val="12000"/>
              </a:srgbClr>
            </a:solidFill>
            <a:prstDash val="solid"/>
          </a:ln>
        </p:spPr>
        <p:txBody>
          <a:bodyPr/>
          <a:lstStyle/>
          <a:p>
            <a:endParaRPr lang="en-US"/>
          </a:p>
        </p:txBody>
      </p:sp>
      <p:sp>
        <p:nvSpPr>
          <p:cNvPr id="6" name="Text 4"/>
          <p:cNvSpPr/>
          <p:nvPr/>
        </p:nvSpPr>
        <p:spPr>
          <a:xfrm>
            <a:off x="1071880" y="2235200"/>
            <a:ext cx="295450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959"/>
                </a:solidFill>
                <a:latin typeface="Courier New" pitchFamily="49" charset="0"/>
                <a:ea typeface="Courier New" pitchFamily="49" charset="-122"/>
                <a:cs typeface="Courier New" pitchFamily="49" charset="-120"/>
              </a:rPr>
              <a:t>01</a:t>
            </a:r>
            <a:endParaRPr lang="en-US" sz="1200" dirty="0"/>
          </a:p>
        </p:txBody>
      </p:sp>
      <p:sp>
        <p:nvSpPr>
          <p:cNvPr id="7" name="Text 5"/>
          <p:cNvSpPr/>
          <p:nvPr/>
        </p:nvSpPr>
        <p:spPr>
          <a:xfrm>
            <a:off x="1071880" y="2550160"/>
            <a:ext cx="2954507" cy="330200"/>
          </a:xfrm>
          <a:prstGeom prst="rect">
            <a:avLst/>
          </a:prstGeom>
          <a:noFill/>
          <a:ln/>
        </p:spPr>
        <p:txBody>
          <a:bodyPr wrap="square" lIns="0" tIns="0" rIns="0" bIns="0" rtlCol="0" anchor="t">
            <a:normAutofit/>
          </a:bodyPr>
          <a:lstStyle/>
          <a:p>
            <a:pPr marL="0" indent="0" algn="l">
              <a:lnSpc>
                <a:spcPts val="2400"/>
              </a:lnSpc>
              <a:buNone/>
            </a:pPr>
            <a:r>
              <a:rPr lang="en-US" sz="2000" i="1" dirty="0">
                <a:solidFill>
                  <a:srgbClr val="0D0D0D"/>
                </a:solidFill>
                <a:latin typeface="Georgia" pitchFamily="18" charset="0"/>
                <a:ea typeface="Georgia" pitchFamily="18" charset="-122"/>
                <a:cs typeface="Georgia" pitchFamily="18" charset="-120"/>
              </a:rPr>
              <a:t>Simulated the source</a:t>
            </a:r>
            <a:endParaRPr lang="en-US" sz="2000" dirty="0"/>
          </a:p>
        </p:txBody>
      </p:sp>
      <p:sp>
        <p:nvSpPr>
          <p:cNvPr id="8" name="Text 6"/>
          <p:cNvSpPr/>
          <p:nvPr/>
        </p:nvSpPr>
        <p:spPr>
          <a:xfrm>
            <a:off x="1071880" y="2956560"/>
            <a:ext cx="2954507" cy="1270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Eleven Oracle Fusion-style tables: requisitions, POs, approvals, receipts, invoices, holds and payments. Two years, October 2024 to September 2026.</a:t>
            </a:r>
            <a:endParaRPr lang="en-US" sz="1400" dirty="0"/>
          </a:p>
        </p:txBody>
      </p:sp>
      <p:sp>
        <p:nvSpPr>
          <p:cNvPr id="9" name="Shape 7"/>
          <p:cNvSpPr/>
          <p:nvPr/>
        </p:nvSpPr>
        <p:spPr>
          <a:xfrm>
            <a:off x="4405789" y="1979295"/>
            <a:ext cx="3380343" cy="2477770"/>
          </a:xfrm>
          <a:prstGeom prst="rect">
            <a:avLst/>
          </a:prstGeom>
          <a:solidFill>
            <a:srgbClr val="F7F7F7"/>
          </a:solidFill>
          <a:ln w="6350">
            <a:solidFill>
              <a:srgbClr val="0D0D0D">
                <a:alpha val="12000"/>
              </a:srgbClr>
            </a:solidFill>
            <a:prstDash val="solid"/>
          </a:ln>
        </p:spPr>
        <p:txBody>
          <a:bodyPr/>
          <a:lstStyle/>
          <a:p>
            <a:endParaRPr lang="en-US"/>
          </a:p>
        </p:txBody>
      </p:sp>
      <p:sp>
        <p:nvSpPr>
          <p:cNvPr id="10" name="Text 8"/>
          <p:cNvSpPr/>
          <p:nvPr/>
        </p:nvSpPr>
        <p:spPr>
          <a:xfrm>
            <a:off x="4661694" y="2235200"/>
            <a:ext cx="29545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959"/>
                </a:solidFill>
                <a:latin typeface="Courier New" pitchFamily="49" charset="0"/>
                <a:ea typeface="Courier New" pitchFamily="49" charset="-122"/>
                <a:cs typeface="Courier New" pitchFamily="49" charset="-120"/>
              </a:rPr>
              <a:t>02</a:t>
            </a:r>
            <a:endParaRPr lang="en-US" sz="1200" dirty="0"/>
          </a:p>
        </p:txBody>
      </p:sp>
      <p:sp>
        <p:nvSpPr>
          <p:cNvPr id="11" name="Text 9"/>
          <p:cNvSpPr/>
          <p:nvPr/>
        </p:nvSpPr>
        <p:spPr>
          <a:xfrm>
            <a:off x="4661694" y="2550160"/>
            <a:ext cx="2954589" cy="330200"/>
          </a:xfrm>
          <a:prstGeom prst="rect">
            <a:avLst/>
          </a:prstGeom>
          <a:noFill/>
          <a:ln/>
        </p:spPr>
        <p:txBody>
          <a:bodyPr wrap="square" lIns="0" tIns="0" rIns="0" bIns="0" rtlCol="0" anchor="t">
            <a:normAutofit/>
          </a:bodyPr>
          <a:lstStyle/>
          <a:p>
            <a:pPr marL="0" indent="0" algn="l">
              <a:lnSpc>
                <a:spcPts val="2400"/>
              </a:lnSpc>
              <a:buNone/>
            </a:pPr>
            <a:r>
              <a:rPr lang="en-US" sz="2000" i="1" dirty="0">
                <a:solidFill>
                  <a:srgbClr val="0D0D0D"/>
                </a:solidFill>
                <a:latin typeface="Georgia" pitchFamily="18" charset="0"/>
                <a:ea typeface="Georgia" pitchFamily="18" charset="-122"/>
                <a:cs typeface="Georgia" pitchFamily="18" charset="-120"/>
              </a:rPr>
              <a:t>Built the event log</a:t>
            </a:r>
            <a:endParaRPr lang="en-US" sz="2000" dirty="0"/>
          </a:p>
        </p:txBody>
      </p:sp>
      <p:sp>
        <p:nvSpPr>
          <p:cNvPr id="12" name="Text 10"/>
          <p:cNvSpPr/>
          <p:nvPr/>
        </p:nvSpPr>
        <p:spPr>
          <a:xfrm>
            <a:off x="4661694" y="2956560"/>
            <a:ext cx="2954589"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One row per event: the case, the activity, when it happened and who did it. A case is one PO line. 17,350 events across 1,851 cases.</a:t>
            </a:r>
            <a:endParaRPr lang="en-US" sz="1400" dirty="0"/>
          </a:p>
        </p:txBody>
      </p:sp>
      <p:sp>
        <p:nvSpPr>
          <p:cNvPr id="13" name="Shape 11"/>
          <p:cNvSpPr/>
          <p:nvPr/>
        </p:nvSpPr>
        <p:spPr>
          <a:xfrm>
            <a:off x="7995682" y="1979295"/>
            <a:ext cx="3380343" cy="2477770"/>
          </a:xfrm>
          <a:prstGeom prst="rect">
            <a:avLst/>
          </a:prstGeom>
          <a:solidFill>
            <a:srgbClr val="F7F7F7"/>
          </a:solidFill>
          <a:ln w="6350">
            <a:solidFill>
              <a:srgbClr val="0D0D0D">
                <a:alpha val="12000"/>
              </a:srgbClr>
            </a:solidFill>
            <a:prstDash val="solid"/>
          </a:ln>
        </p:spPr>
        <p:txBody>
          <a:bodyPr/>
          <a:lstStyle/>
          <a:p>
            <a:endParaRPr lang="en-US"/>
          </a:p>
        </p:txBody>
      </p:sp>
      <p:sp>
        <p:nvSpPr>
          <p:cNvPr id="14" name="Text 12"/>
          <p:cNvSpPr/>
          <p:nvPr/>
        </p:nvSpPr>
        <p:spPr>
          <a:xfrm>
            <a:off x="8251587" y="2235200"/>
            <a:ext cx="29545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959"/>
                </a:solidFill>
                <a:latin typeface="Courier New" pitchFamily="49" charset="0"/>
                <a:ea typeface="Courier New" pitchFamily="49" charset="-122"/>
                <a:cs typeface="Courier New" pitchFamily="49" charset="-120"/>
              </a:rPr>
              <a:t>03</a:t>
            </a:r>
            <a:endParaRPr lang="en-US" sz="1200" dirty="0"/>
          </a:p>
        </p:txBody>
      </p:sp>
      <p:sp>
        <p:nvSpPr>
          <p:cNvPr id="15" name="Text 13"/>
          <p:cNvSpPr/>
          <p:nvPr/>
        </p:nvSpPr>
        <p:spPr>
          <a:xfrm>
            <a:off x="8251587" y="2550160"/>
            <a:ext cx="2954589" cy="330200"/>
          </a:xfrm>
          <a:prstGeom prst="rect">
            <a:avLst/>
          </a:prstGeom>
          <a:noFill/>
          <a:ln/>
        </p:spPr>
        <p:txBody>
          <a:bodyPr wrap="square" lIns="0" tIns="0" rIns="0" bIns="0" rtlCol="0" anchor="t">
            <a:normAutofit/>
          </a:bodyPr>
          <a:lstStyle/>
          <a:p>
            <a:pPr marL="0" indent="0" algn="l">
              <a:lnSpc>
                <a:spcPts val="2400"/>
              </a:lnSpc>
              <a:buNone/>
            </a:pPr>
            <a:r>
              <a:rPr lang="en-US" sz="2000" i="1" dirty="0">
                <a:solidFill>
                  <a:srgbClr val="0D0D0D"/>
                </a:solidFill>
                <a:latin typeface="Georgia" pitchFamily="18" charset="0"/>
                <a:ea typeface="Georgia" pitchFamily="18" charset="-122"/>
                <a:cs typeface="Georgia" pitchFamily="18" charset="-120"/>
              </a:rPr>
              <a:t>Mined the process</a:t>
            </a:r>
            <a:endParaRPr lang="en-US" sz="2000" dirty="0"/>
          </a:p>
        </p:txBody>
      </p:sp>
      <p:sp>
        <p:nvSpPr>
          <p:cNvPr id="16" name="Text 14"/>
          <p:cNvSpPr/>
          <p:nvPr/>
        </p:nvSpPr>
        <p:spPr>
          <a:xfrm>
            <a:off x="8251587" y="2956560"/>
            <a:ext cx="2954589" cy="12700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Loaded into Power Automate Process Mining to map the flow, measure waiting times and filter by approver, hold type and manual work.</a:t>
            </a:r>
            <a:endParaRPr lang="en-US" sz="1400" dirty="0"/>
          </a:p>
        </p:txBody>
      </p:sp>
      <p:sp>
        <p:nvSpPr>
          <p:cNvPr id="17" name="Text 15"/>
          <p:cNvSpPr/>
          <p:nvPr/>
        </p:nvSpPr>
        <p:spPr>
          <a:xfrm>
            <a:off x="812800" y="4765040"/>
            <a:ext cx="1088339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959"/>
                </a:solidFill>
                <a:latin typeface="Arial" pitchFamily="34" charset="0"/>
                <a:ea typeface="Arial" pitchFamily="34" charset="-122"/>
                <a:cs typeface="Arial" pitchFamily="34" charset="-120"/>
              </a:rPr>
              <a:t>All data is synthetic. We planted typical P2P problems so the method has something to find; none of these numbers describe the client.</a:t>
            </a:r>
            <a:endParaRPr lang="en-US" sz="1400" dirty="0"/>
          </a:p>
        </p:txBody>
      </p:sp>
      <p:sp>
        <p:nvSpPr>
          <p:cNvPr id="18" name="Text 16"/>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595959"/>
                </a:solidFill>
                <a:latin typeface="Courier New" pitchFamily="49" charset="0"/>
                <a:ea typeface="Courier New" pitchFamily="49" charset="-122"/>
                <a:cs typeface="Courier New" pitchFamily="49" charset="-120"/>
              </a:rPr>
              <a:t>VIZIO AI · DX STUDIO — SYNTHETIC DEMO DATA</a:t>
            </a:r>
            <a:endParaRPr lang="en-US" sz="1200" dirty="0"/>
          </a:p>
        </p:txBody>
      </p:sp>
      <p:sp>
        <p:nvSpPr>
          <p:cNvPr id="19" name="Text 17"/>
          <p:cNvSpPr/>
          <p:nvPr/>
        </p:nvSpPr>
        <p:spPr>
          <a:xfrm>
            <a:off x="10566400" y="6238241"/>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95959"/>
                </a:solidFill>
                <a:latin typeface="Courier New" pitchFamily="49" charset="0"/>
                <a:ea typeface="Courier New" pitchFamily="49" charset="-122"/>
                <a:cs typeface="Courier New"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5500" y="812800"/>
            <a:ext cx="0" cy="238760"/>
          </a:xfrm>
          <a:prstGeom prst="line">
            <a:avLst/>
          </a:prstGeom>
          <a:noFill/>
          <a:ln w="25400">
            <a:solidFill>
              <a:srgbClr val="DA3A38"/>
            </a:solidFill>
            <a:prstDash val="solid"/>
          </a:ln>
        </p:spPr>
        <p:txBody>
          <a:bodyPr/>
          <a:lstStyle/>
          <a:p>
            <a:endParaRPr lang="en-US"/>
          </a:p>
        </p:txBody>
      </p:sp>
      <p:sp>
        <p:nvSpPr>
          <p:cNvPr id="3" name="Text 1"/>
          <p:cNvSpPr/>
          <p:nvPr/>
        </p:nvSpPr>
        <p:spPr>
          <a:xfrm>
            <a:off x="939800" y="825500"/>
            <a:ext cx="1075258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95959"/>
                </a:solidFill>
                <a:latin typeface="Courier New" pitchFamily="49" charset="0"/>
                <a:ea typeface="Courier New" pitchFamily="49" charset="-122"/>
                <a:cs typeface="Courier New" pitchFamily="49" charset="-120"/>
              </a:rPr>
              <a:t>SETUP · 02</a:t>
            </a:r>
            <a:endParaRPr lang="en-US" sz="1200" dirty="0"/>
          </a:p>
        </p:txBody>
      </p:sp>
      <p:sp>
        <p:nvSpPr>
          <p:cNvPr id="4" name="Text 2"/>
          <p:cNvSpPr>
            <a:spLocks noGrp="1"/>
          </p:cNvSpPr>
          <p:nvPr>
            <p:ph type="title"/>
          </p:nvPr>
        </p:nvSpPr>
        <p:spPr>
          <a:xfrm>
            <a:off x="812800" y="12039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0" i="1" dirty="0">
                <a:solidFill>
                  <a:srgbClr val="0D0D0D"/>
                </a:solidFill>
                <a:latin typeface="Georgia" pitchFamily="18" charset="0"/>
                <a:ea typeface="Georgia" pitchFamily="18" charset="-122"/>
                <a:cs typeface="Georgia" pitchFamily="18" charset="-120"/>
              </a:rPr>
              <a:t>From Oracle tables to an event log</a:t>
            </a:r>
            <a:r>
              <a:rPr lang="en-US" sz="3200" b="0" i="1" dirty="0">
                <a:solidFill>
                  <a:srgbClr val="DA3A38"/>
                </a:solidFill>
                <a:latin typeface="Georgia" pitchFamily="18" charset="0"/>
                <a:ea typeface="Georgia" pitchFamily="18" charset="-122"/>
                <a:cs typeface="Georgia" pitchFamily="18" charset="-120"/>
              </a:rPr>
              <a: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935480"/>
          <a:ext cx="10556240" cy="2854960"/>
        </p:xfrm>
        <a:graphic>
          <a:graphicData uri="http://schemas.openxmlformats.org/drawingml/2006/table">
            <a:tbl>
              <a:tblPr/>
              <a:tblGrid>
                <a:gridCol w="3589122">
                  <a:extLst>
                    <a:ext uri="{9D8B030D-6E8A-4147-A177-3AD203B41FA5}">
                      <a16:colId xmlns:a16="http://schemas.microsoft.com/office/drawing/2014/main" val="20000"/>
                    </a:ext>
                  </a:extLst>
                </a:gridCol>
                <a:gridCol w="4011371">
                  <a:extLst>
                    <a:ext uri="{9D8B030D-6E8A-4147-A177-3AD203B41FA5}">
                      <a16:colId xmlns:a16="http://schemas.microsoft.com/office/drawing/2014/main" val="20001"/>
                    </a:ext>
                  </a:extLst>
                </a:gridCol>
                <a:gridCol w="2955747">
                  <a:extLst>
                    <a:ext uri="{9D8B030D-6E8A-4147-A177-3AD203B41FA5}">
                      <a16:colId xmlns:a16="http://schemas.microsoft.com/office/drawing/2014/main" val="20002"/>
                    </a:ext>
                  </a:extLst>
                </a:gridCol>
              </a:tblGrid>
              <a:tr h="330200">
                <a:tc>
                  <a:txBody>
                    <a:bodyPr/>
                    <a:lstStyle/>
                    <a:p>
                      <a:pPr marL="0" indent="0">
                        <a:lnSpc>
                          <a:spcPts val="1680"/>
                        </a:lnSpc>
                        <a:buNone/>
                      </a:pPr>
                      <a:r>
                        <a:rPr lang="en-US" sz="1200" b="1" dirty="0">
                          <a:solidFill>
                            <a:srgbClr val="262626"/>
                          </a:solidFill>
                          <a:latin typeface="Arial" pitchFamily="34" charset="0"/>
                          <a:ea typeface="Arial" pitchFamily="34" charset="-122"/>
                          <a:cs typeface="Arial" pitchFamily="34" charset="-120"/>
                        </a:rPr>
                        <a:t>Oracle table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262626"/>
                          </a:solidFill>
                          <a:latin typeface="Arial" pitchFamily="34" charset="0"/>
                          <a:ea typeface="Arial" pitchFamily="34" charset="-122"/>
                          <a:cs typeface="Arial" pitchFamily="34" charset="-120"/>
                        </a:rPr>
                        <a:t>Events it produces</a:t>
                      </a:r>
                      <a:endParaRPr lang="en-US" sz="1200" dirty="0">
                        <a:latin typeface="Arial" charset="0"/>
                        <a:ea typeface="Arial" charset="0"/>
                        <a:cs typeface="Arial"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680"/>
                        </a:lnSpc>
                        <a:buNone/>
                      </a:pPr>
                      <a:r>
                        <a:rPr lang="en-US" sz="1200" b="1" dirty="0">
                          <a:solidFill>
                            <a:srgbClr val="262626"/>
                          </a:solidFill>
                          <a:latin typeface="Arial" pitchFamily="34" charset="0"/>
                          <a:ea typeface="Arial" pitchFamily="34" charset="-122"/>
                          <a:cs typeface="Arial" pitchFamily="34" charset="-120"/>
                        </a:rPr>
                        <a:t>What it tells us</a:t>
                      </a:r>
                      <a:endParaRPr lang="en-US" sz="1200" dirty="0">
                        <a:latin typeface="Arial" charset="0"/>
                        <a:ea typeface="Arial" charset="0"/>
                        <a:cs typeface="Arial" charset="0"/>
                      </a:endParaRPr>
                    </a:p>
                  </a:txBody>
                  <a:tcPr marL="53340" marR="53340" marT="53340" marB="5334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POR_REQUISITION_HEADERS_ALL</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Create Requisition</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Who asked, and when</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43560">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PO_ACTION_HISTORY</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Submit, approve, reject requisition; submit, approve, change PO</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Approval waits and rework</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PO_HEADERS_ALL</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Create PO</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Manual or automatic PO creation</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RCV_TRANSACTIONS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Record Goods Receipt</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Partial and late receipts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AP_INVOICES_ALL</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Receive Invoice, Cancel Invoice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Manual entry, duplicates</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AP_HOLDS_ALL</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Invoice Hold (three types), Release Invoice Hold</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Exceptions and time on hold</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AP_INVOICE_PAYMENTS_ALL</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Pay Invoice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680"/>
                        </a:lnSpc>
                        <a:buNone/>
                      </a:pPr>
                      <a:r>
                        <a:rPr lang="en-US" sz="1200" dirty="0">
                          <a:solidFill>
                            <a:srgbClr val="262626"/>
                          </a:solidFill>
                          <a:latin typeface="Arial" pitchFamily="34" charset="0"/>
                          <a:ea typeface="Arial" pitchFamily="34" charset="-122"/>
                          <a:cs typeface="Arial" pitchFamily="34" charset="-120"/>
                        </a:rPr>
                        <a:t>Paid on time or late</a:t>
                      </a:r>
                      <a:endParaRPr lang="en-US" sz="1200" dirty="0">
                        <a:latin typeface="Arial" charset="0"/>
                        <a:ea typeface="Arial" charset="0"/>
                        <a:cs typeface="Arial" charset="0"/>
                      </a:endParaRPr>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p:nvPr/>
        </p:nvSpPr>
        <p:spPr>
          <a:xfrm>
            <a:off x="812800" y="50444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959"/>
                </a:solidFill>
                <a:latin typeface="Arial" pitchFamily="34" charset="0"/>
                <a:ea typeface="Arial" pitchFamily="34" charset="-122"/>
                <a:cs typeface="Arial" pitchFamily="34" charset="-120"/>
              </a:rPr>
              <a:t>Table names follow Oracle conventions. Real Fusion extracts (BICC, OTBI, BI Publisher) will differ and are confirmed in discovery.</a:t>
            </a:r>
            <a:endParaRPr lang="en-US" sz="1200" dirty="0"/>
          </a:p>
        </p:txBody>
      </p:sp>
      <p:sp>
        <p:nvSpPr>
          <p:cNvPr id="7" name="Text 4"/>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595959"/>
                </a:solidFill>
                <a:latin typeface="Courier New" pitchFamily="49" charset="0"/>
                <a:ea typeface="Courier New" pitchFamily="49" charset="-122"/>
                <a:cs typeface="Courier New" pitchFamily="49" charset="-120"/>
              </a:rPr>
              <a:t>VIZIO AI · DX STUDIO — SYNTHETIC DEMO DATA</a:t>
            </a:r>
            <a:endParaRPr lang="en-US" sz="1200" dirty="0"/>
          </a:p>
        </p:txBody>
      </p:sp>
      <p:sp>
        <p:nvSpPr>
          <p:cNvPr id="8" name="Text 5"/>
          <p:cNvSpPr/>
          <p:nvPr/>
        </p:nvSpPr>
        <p:spPr>
          <a:xfrm>
            <a:off x="10566400" y="6238241"/>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95959"/>
                </a:solidFill>
                <a:latin typeface="Courier New" pitchFamily="49" charset="0"/>
                <a:ea typeface="Courier New" pitchFamily="49" charset="-122"/>
                <a:cs typeface="Courier New"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5500" y="812800"/>
            <a:ext cx="0" cy="238760"/>
          </a:xfrm>
          <a:prstGeom prst="line">
            <a:avLst/>
          </a:prstGeom>
          <a:noFill/>
          <a:ln w="25400">
            <a:solidFill>
              <a:srgbClr val="DA3A38"/>
            </a:solidFill>
            <a:prstDash val="solid"/>
          </a:ln>
        </p:spPr>
        <p:txBody>
          <a:bodyPr/>
          <a:lstStyle/>
          <a:p>
            <a:endParaRPr lang="en-US"/>
          </a:p>
        </p:txBody>
      </p:sp>
      <p:sp>
        <p:nvSpPr>
          <p:cNvPr id="3" name="Text 1"/>
          <p:cNvSpPr/>
          <p:nvPr/>
        </p:nvSpPr>
        <p:spPr>
          <a:xfrm>
            <a:off x="939800" y="825500"/>
            <a:ext cx="1075258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95959"/>
                </a:solidFill>
                <a:latin typeface="Courier New" pitchFamily="49" charset="0"/>
                <a:ea typeface="Courier New" pitchFamily="49" charset="-122"/>
                <a:cs typeface="Courier New" pitchFamily="49" charset="-120"/>
              </a:rPr>
              <a:t>OVERVIEW</a:t>
            </a:r>
            <a:endParaRPr lang="en-US" sz="1200" dirty="0"/>
          </a:p>
        </p:txBody>
      </p:sp>
      <p:sp>
        <p:nvSpPr>
          <p:cNvPr id="4" name="Text 2"/>
          <p:cNvSpPr>
            <a:spLocks noGrp="1"/>
          </p:cNvSpPr>
          <p:nvPr>
            <p:ph type="title"/>
          </p:nvPr>
        </p:nvSpPr>
        <p:spPr>
          <a:xfrm>
            <a:off x="812800" y="12039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0" i="1" dirty="0">
                <a:solidFill>
                  <a:srgbClr val="0D0D0D"/>
                </a:solidFill>
                <a:latin typeface="Georgia" pitchFamily="18" charset="0"/>
                <a:ea typeface="Georgia" pitchFamily="18" charset="-122"/>
                <a:cs typeface="Georgia" pitchFamily="18" charset="-120"/>
              </a:rPr>
              <a:t>The process at a glance</a:t>
            </a:r>
            <a:r>
              <a:rPr lang="en-US" sz="3200" b="0" i="1" dirty="0">
                <a:solidFill>
                  <a:srgbClr val="DA3A38"/>
                </a:solidFill>
                <a:latin typeface="Georgia" pitchFamily="18" charset="0"/>
                <a:ea typeface="Georgia" pitchFamily="18" charset="-122"/>
                <a:cs typeface="Georgia" pitchFamily="18" charset="-120"/>
              </a:rPr>
              <a:t>.</a:t>
            </a:r>
            <a:endParaRPr lang="en-US" sz="3200" dirty="0"/>
          </a:p>
        </p:txBody>
      </p:sp>
      <p:sp>
        <p:nvSpPr>
          <p:cNvPr id="5" name="Shape 3"/>
          <p:cNvSpPr/>
          <p:nvPr/>
        </p:nvSpPr>
        <p:spPr>
          <a:xfrm>
            <a:off x="815975" y="1979295"/>
            <a:ext cx="5175250" cy="1517650"/>
          </a:xfrm>
          <a:prstGeom prst="rect">
            <a:avLst/>
          </a:prstGeom>
          <a:solidFill>
            <a:srgbClr val="F7F7F7"/>
          </a:solidFill>
          <a:ln w="6350">
            <a:solidFill>
              <a:srgbClr val="0D0D0D">
                <a:alpha val="12000"/>
              </a:srgbClr>
            </a:solidFill>
            <a:prstDash val="solid"/>
          </a:ln>
        </p:spPr>
        <p:txBody>
          <a:bodyPr/>
          <a:lstStyle/>
          <a:p>
            <a:endParaRPr lang="en-US"/>
          </a:p>
        </p:txBody>
      </p:sp>
      <p:sp>
        <p:nvSpPr>
          <p:cNvPr id="6" name="Text 4"/>
          <p:cNvSpPr/>
          <p:nvPr/>
        </p:nvSpPr>
        <p:spPr>
          <a:xfrm>
            <a:off x="1071880" y="2184400"/>
            <a:ext cx="4803343" cy="807720"/>
          </a:xfrm>
          <a:prstGeom prst="rect">
            <a:avLst/>
          </a:prstGeom>
          <a:noFill/>
          <a:ln/>
        </p:spPr>
        <p:txBody>
          <a:bodyPr wrap="square" lIns="0" tIns="0" rIns="0" bIns="0" rtlCol="0" anchor="t">
            <a:normAutofit/>
          </a:bodyPr>
          <a:lstStyle/>
          <a:p>
            <a:pPr marL="0" indent="0" algn="l">
              <a:lnSpc>
                <a:spcPts val="6160"/>
              </a:lnSpc>
              <a:buNone/>
            </a:pPr>
            <a:r>
              <a:rPr lang="en-US" sz="5600" dirty="0">
                <a:solidFill>
                  <a:srgbClr val="0D0D0D"/>
                </a:solidFill>
                <a:latin typeface="Courier New" pitchFamily="49" charset="0"/>
                <a:ea typeface="Courier New" pitchFamily="49" charset="-122"/>
                <a:cs typeface="Courier New" pitchFamily="49" charset="-120"/>
              </a:rPr>
              <a:t>1,851</a:t>
            </a:r>
            <a:endParaRPr lang="en-US" sz="5600" dirty="0"/>
          </a:p>
        </p:txBody>
      </p:sp>
      <p:sp>
        <p:nvSpPr>
          <p:cNvPr id="7" name="Text 5"/>
          <p:cNvSpPr/>
          <p:nvPr/>
        </p:nvSpPr>
        <p:spPr>
          <a:xfrm>
            <a:off x="1071880" y="3042920"/>
            <a:ext cx="480334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PO lines followed end to end, 17,350 events</a:t>
            </a:r>
            <a:endParaRPr lang="en-US" sz="1400" dirty="0"/>
          </a:p>
        </p:txBody>
      </p:sp>
      <p:sp>
        <p:nvSpPr>
          <p:cNvPr id="8" name="Shape 6"/>
          <p:cNvSpPr/>
          <p:nvPr/>
        </p:nvSpPr>
        <p:spPr>
          <a:xfrm>
            <a:off x="6200775" y="1979295"/>
            <a:ext cx="5175250" cy="1517650"/>
          </a:xfrm>
          <a:prstGeom prst="rect">
            <a:avLst/>
          </a:prstGeom>
          <a:solidFill>
            <a:srgbClr val="F7F7F7"/>
          </a:solidFill>
          <a:ln w="6350">
            <a:solidFill>
              <a:srgbClr val="0D0D0D">
                <a:alpha val="12000"/>
              </a:srgbClr>
            </a:solidFill>
            <a:prstDash val="solid"/>
          </a:ln>
        </p:spPr>
        <p:txBody>
          <a:bodyPr/>
          <a:lstStyle/>
          <a:p>
            <a:endParaRPr lang="en-US"/>
          </a:p>
        </p:txBody>
      </p:sp>
      <p:sp>
        <p:nvSpPr>
          <p:cNvPr id="9" name="Text 7"/>
          <p:cNvSpPr/>
          <p:nvPr/>
        </p:nvSpPr>
        <p:spPr>
          <a:xfrm>
            <a:off x="6456680" y="2184400"/>
            <a:ext cx="4803343" cy="807720"/>
          </a:xfrm>
          <a:prstGeom prst="rect">
            <a:avLst/>
          </a:prstGeom>
          <a:noFill/>
          <a:ln/>
        </p:spPr>
        <p:txBody>
          <a:bodyPr wrap="square" lIns="0" tIns="0" rIns="0" bIns="0" rtlCol="0" anchor="t">
            <a:normAutofit/>
          </a:bodyPr>
          <a:lstStyle/>
          <a:p>
            <a:pPr marL="0" indent="0" algn="l">
              <a:lnSpc>
                <a:spcPts val="6160"/>
              </a:lnSpc>
              <a:buNone/>
            </a:pPr>
            <a:r>
              <a:rPr lang="en-US" sz="5600" dirty="0">
                <a:solidFill>
                  <a:srgbClr val="DA3A38"/>
                </a:solidFill>
                <a:latin typeface="Courier New" pitchFamily="49" charset="0"/>
                <a:ea typeface="Courier New" pitchFamily="49" charset="-122"/>
                <a:cs typeface="Courier New" pitchFamily="49" charset="-120"/>
              </a:rPr>
              <a:t>31%</a:t>
            </a:r>
            <a:endParaRPr lang="en-US" sz="5600" dirty="0"/>
          </a:p>
        </p:txBody>
      </p:sp>
      <p:sp>
        <p:nvSpPr>
          <p:cNvPr id="10" name="Text 8"/>
          <p:cNvSpPr/>
          <p:nvPr/>
        </p:nvSpPr>
        <p:spPr>
          <a:xfrm>
            <a:off x="6456680" y="3042920"/>
            <a:ext cx="480334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follow the standard path, requisition to payment</a:t>
            </a:r>
            <a:endParaRPr lang="en-US" sz="1400" dirty="0"/>
          </a:p>
        </p:txBody>
      </p:sp>
      <p:sp>
        <p:nvSpPr>
          <p:cNvPr id="11" name="Shape 9"/>
          <p:cNvSpPr/>
          <p:nvPr/>
        </p:nvSpPr>
        <p:spPr>
          <a:xfrm>
            <a:off x="815975" y="3706495"/>
            <a:ext cx="5175250" cy="1517650"/>
          </a:xfrm>
          <a:prstGeom prst="rect">
            <a:avLst/>
          </a:prstGeom>
          <a:solidFill>
            <a:srgbClr val="F7F7F7"/>
          </a:solidFill>
          <a:ln w="6350">
            <a:solidFill>
              <a:srgbClr val="0D0D0D">
                <a:alpha val="12000"/>
              </a:srgbClr>
            </a:solidFill>
            <a:prstDash val="solid"/>
          </a:ln>
        </p:spPr>
        <p:txBody>
          <a:bodyPr/>
          <a:lstStyle/>
          <a:p>
            <a:endParaRPr lang="en-US"/>
          </a:p>
        </p:txBody>
      </p:sp>
      <p:sp>
        <p:nvSpPr>
          <p:cNvPr id="12" name="Text 10"/>
          <p:cNvSpPr/>
          <p:nvPr/>
        </p:nvSpPr>
        <p:spPr>
          <a:xfrm>
            <a:off x="1071880" y="3911600"/>
            <a:ext cx="4803343" cy="807720"/>
          </a:xfrm>
          <a:prstGeom prst="rect">
            <a:avLst/>
          </a:prstGeom>
          <a:noFill/>
          <a:ln/>
        </p:spPr>
        <p:txBody>
          <a:bodyPr wrap="square" lIns="0" tIns="0" rIns="0" bIns="0" rtlCol="0" anchor="t">
            <a:normAutofit/>
          </a:bodyPr>
          <a:lstStyle/>
          <a:p>
            <a:pPr marL="0" indent="0" algn="l">
              <a:lnSpc>
                <a:spcPts val="6160"/>
              </a:lnSpc>
              <a:buNone/>
            </a:pPr>
            <a:r>
              <a:rPr lang="en-US" sz="5600" dirty="0">
                <a:solidFill>
                  <a:srgbClr val="0D0D0D"/>
                </a:solidFill>
                <a:latin typeface="Courier New" pitchFamily="49" charset="0"/>
                <a:ea typeface="Courier New" pitchFamily="49" charset="-122"/>
                <a:cs typeface="Courier New" pitchFamily="49" charset="-120"/>
              </a:rPr>
              <a:t>163</a:t>
            </a:r>
            <a:endParaRPr lang="en-US" sz="5600" dirty="0"/>
          </a:p>
        </p:txBody>
      </p:sp>
      <p:sp>
        <p:nvSpPr>
          <p:cNvPr id="13" name="Text 11"/>
          <p:cNvSpPr/>
          <p:nvPr/>
        </p:nvSpPr>
        <p:spPr>
          <a:xfrm>
            <a:off x="1071880" y="4770120"/>
            <a:ext cx="480334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distinct paths (variants) through the process</a:t>
            </a:r>
            <a:endParaRPr lang="en-US" sz="1400" dirty="0"/>
          </a:p>
        </p:txBody>
      </p:sp>
      <p:sp>
        <p:nvSpPr>
          <p:cNvPr id="14" name="Shape 12"/>
          <p:cNvSpPr/>
          <p:nvPr/>
        </p:nvSpPr>
        <p:spPr>
          <a:xfrm>
            <a:off x="6200775" y="3706495"/>
            <a:ext cx="5175250" cy="1517650"/>
          </a:xfrm>
          <a:prstGeom prst="rect">
            <a:avLst/>
          </a:prstGeom>
          <a:solidFill>
            <a:srgbClr val="F7F7F7"/>
          </a:solidFill>
          <a:ln w="6350">
            <a:solidFill>
              <a:srgbClr val="0D0D0D">
                <a:alpha val="12000"/>
              </a:srgbClr>
            </a:solidFill>
            <a:prstDash val="solid"/>
          </a:ln>
        </p:spPr>
        <p:txBody>
          <a:bodyPr/>
          <a:lstStyle/>
          <a:p>
            <a:endParaRPr lang="en-US"/>
          </a:p>
        </p:txBody>
      </p:sp>
      <p:sp>
        <p:nvSpPr>
          <p:cNvPr id="15" name="Text 13"/>
          <p:cNvSpPr/>
          <p:nvPr/>
        </p:nvSpPr>
        <p:spPr>
          <a:xfrm>
            <a:off x="6456680" y="3911600"/>
            <a:ext cx="4803343" cy="807720"/>
          </a:xfrm>
          <a:prstGeom prst="rect">
            <a:avLst/>
          </a:prstGeom>
          <a:noFill/>
          <a:ln/>
        </p:spPr>
        <p:txBody>
          <a:bodyPr wrap="square" lIns="0" tIns="0" rIns="0" bIns="0" rtlCol="0" anchor="t">
            <a:normAutofit/>
          </a:bodyPr>
          <a:lstStyle/>
          <a:p>
            <a:pPr marL="0" indent="0" algn="l">
              <a:lnSpc>
                <a:spcPts val="6160"/>
              </a:lnSpc>
              <a:buNone/>
            </a:pPr>
            <a:r>
              <a:rPr lang="en-US" sz="5600" dirty="0">
                <a:solidFill>
                  <a:srgbClr val="0D0D0D"/>
                </a:solidFill>
                <a:latin typeface="Courier New" pitchFamily="49" charset="0"/>
                <a:ea typeface="Courier New" pitchFamily="49" charset="-122"/>
                <a:cs typeface="Courier New" pitchFamily="49" charset="-120"/>
              </a:rPr>
              <a:t>52 days</a:t>
            </a:r>
            <a:endParaRPr lang="en-US" sz="5600" dirty="0"/>
          </a:p>
        </p:txBody>
      </p:sp>
      <p:sp>
        <p:nvSpPr>
          <p:cNvPr id="16" name="Text 14"/>
          <p:cNvSpPr/>
          <p:nvPr/>
        </p:nvSpPr>
        <p:spPr>
          <a:xfrm>
            <a:off x="6456680" y="4770120"/>
            <a:ext cx="480334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median from first step to payment</a:t>
            </a:r>
            <a:endParaRPr lang="en-US" sz="1400" dirty="0"/>
          </a:p>
        </p:txBody>
      </p:sp>
      <p:sp>
        <p:nvSpPr>
          <p:cNvPr id="17" name="Text 15"/>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595959"/>
                </a:solidFill>
                <a:latin typeface="Courier New" pitchFamily="49" charset="0"/>
                <a:ea typeface="Courier New" pitchFamily="49" charset="-122"/>
                <a:cs typeface="Courier New" pitchFamily="49" charset="-120"/>
              </a:rPr>
              <a:t>VIZIO AI · DX STUDIO — SYNTHETIC DEMO DATA</a:t>
            </a:r>
            <a:endParaRPr lang="en-US" sz="1200" dirty="0"/>
          </a:p>
        </p:txBody>
      </p:sp>
      <p:sp>
        <p:nvSpPr>
          <p:cNvPr id="18" name="Text 16"/>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95959"/>
                </a:solidFill>
                <a:latin typeface="Courier New" pitchFamily="49" charset="0"/>
                <a:ea typeface="Courier New" pitchFamily="49" charset="-122"/>
                <a:cs typeface="Courier New"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5500" y="812800"/>
            <a:ext cx="0" cy="238760"/>
          </a:xfrm>
          <a:prstGeom prst="line">
            <a:avLst/>
          </a:prstGeom>
          <a:noFill/>
          <a:ln w="25400">
            <a:solidFill>
              <a:srgbClr val="DA3A38"/>
            </a:solidFill>
            <a:prstDash val="solid"/>
          </a:ln>
        </p:spPr>
        <p:txBody>
          <a:bodyPr/>
          <a:lstStyle/>
          <a:p>
            <a:endParaRPr lang="en-US"/>
          </a:p>
        </p:txBody>
      </p:sp>
      <p:sp>
        <p:nvSpPr>
          <p:cNvPr id="3" name="Text 1"/>
          <p:cNvSpPr/>
          <p:nvPr/>
        </p:nvSpPr>
        <p:spPr>
          <a:xfrm>
            <a:off x="939800" y="825500"/>
            <a:ext cx="1075258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95959"/>
                </a:solidFill>
                <a:latin typeface="Courier New" pitchFamily="49" charset="0"/>
                <a:ea typeface="Courier New" pitchFamily="49" charset="-122"/>
                <a:cs typeface="Courier New" pitchFamily="49" charset="-120"/>
              </a:rPr>
              <a:t>FINDING 01 · APPROVAL DELAYS</a:t>
            </a:r>
            <a:endParaRPr lang="en-US" sz="1200" dirty="0"/>
          </a:p>
        </p:txBody>
      </p:sp>
      <p:sp>
        <p:nvSpPr>
          <p:cNvPr id="4" name="Text 2"/>
          <p:cNvSpPr>
            <a:spLocks noGrp="1"/>
          </p:cNvSpPr>
          <p:nvPr>
            <p:ph type="title"/>
          </p:nvPr>
        </p:nvSpPr>
        <p:spPr>
          <a:xfrm>
            <a:off x="812800" y="12039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0" i="1" dirty="0">
                <a:solidFill>
                  <a:srgbClr val="0D0D0D"/>
                </a:solidFill>
                <a:latin typeface="Georgia" pitchFamily="18" charset="0"/>
                <a:ea typeface="Georgia" pitchFamily="18" charset="-122"/>
                <a:cs typeface="Georgia" pitchFamily="18" charset="-120"/>
              </a:rPr>
              <a:t>Approval delays sit with one approver</a:t>
            </a:r>
            <a:r>
              <a:rPr lang="en-US" sz="3200" b="0" i="1" dirty="0">
                <a:solidFill>
                  <a:srgbClr val="DA3A38"/>
                </a:solidFill>
                <a:latin typeface="Georgia" pitchFamily="18" charset="0"/>
                <a:ea typeface="Georgia" pitchFamily="18" charset="-122"/>
                <a:cs typeface="Georgia" pitchFamily="18" charset="-120"/>
              </a:rPr>
              <a:t>.</a:t>
            </a:r>
            <a:endParaRPr lang="en-US" sz="3200" dirty="0"/>
          </a:p>
        </p:txBody>
      </p:sp>
      <p:sp>
        <p:nvSpPr>
          <p:cNvPr id="5" name="Text 3"/>
          <p:cNvSpPr/>
          <p:nvPr/>
        </p:nvSpPr>
        <p:spPr>
          <a:xfrm>
            <a:off x="812800" y="1976121"/>
            <a:ext cx="680212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Average days from submitting a requisition to its approval, by approver.</a:t>
            </a:r>
            <a:endParaRPr lang="en-US" sz="1400" dirty="0"/>
          </a:p>
        </p:txBody>
      </p:sp>
      <p:sp>
        <p:nvSpPr>
          <p:cNvPr id="6" name="Text 4"/>
          <p:cNvSpPr/>
          <p:nvPr/>
        </p:nvSpPr>
        <p:spPr>
          <a:xfrm>
            <a:off x="812800" y="2446021"/>
            <a:ext cx="19621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0D0D"/>
                </a:solidFill>
                <a:latin typeface="Courier New" pitchFamily="49" charset="0"/>
                <a:ea typeface="Courier New" pitchFamily="49" charset="-122"/>
                <a:cs typeface="Courier New" pitchFamily="49" charset="-120"/>
              </a:rPr>
              <a:t>APPR.OPS_DIRECTOR</a:t>
            </a:r>
            <a:endParaRPr lang="en-US" sz="1200" dirty="0"/>
          </a:p>
        </p:txBody>
      </p:sp>
      <p:sp>
        <p:nvSpPr>
          <p:cNvPr id="7" name="Shape 5"/>
          <p:cNvSpPr/>
          <p:nvPr/>
        </p:nvSpPr>
        <p:spPr>
          <a:xfrm>
            <a:off x="2870200" y="2438400"/>
            <a:ext cx="3048000" cy="228600"/>
          </a:xfrm>
          <a:prstGeom prst="rect">
            <a:avLst/>
          </a:prstGeom>
          <a:solidFill>
            <a:srgbClr val="DA3A38"/>
          </a:solidFill>
          <a:ln/>
        </p:spPr>
        <p:txBody>
          <a:bodyPr/>
          <a:lstStyle/>
          <a:p>
            <a:endParaRPr lang="en-US"/>
          </a:p>
        </p:txBody>
      </p:sp>
      <p:sp>
        <p:nvSpPr>
          <p:cNvPr id="8" name="Text 6"/>
          <p:cNvSpPr/>
          <p:nvPr/>
        </p:nvSpPr>
        <p:spPr>
          <a:xfrm>
            <a:off x="6070600" y="2428239"/>
            <a:ext cx="10668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D0D0D"/>
                </a:solidFill>
                <a:latin typeface="Courier New" pitchFamily="49" charset="0"/>
                <a:ea typeface="Courier New" pitchFamily="49" charset="-122"/>
                <a:cs typeface="Courier New" pitchFamily="49" charset="-120"/>
              </a:rPr>
              <a:t>8.2 days</a:t>
            </a:r>
            <a:endParaRPr lang="en-US" sz="1400" dirty="0"/>
          </a:p>
        </p:txBody>
      </p:sp>
      <p:sp>
        <p:nvSpPr>
          <p:cNvPr id="9" name="Text 7"/>
          <p:cNvSpPr/>
          <p:nvPr/>
        </p:nvSpPr>
        <p:spPr>
          <a:xfrm>
            <a:off x="812800" y="2847339"/>
            <a:ext cx="19621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959"/>
                </a:solidFill>
                <a:latin typeface="Courier New" pitchFamily="49" charset="0"/>
                <a:ea typeface="Courier New" pitchFamily="49" charset="-122"/>
                <a:cs typeface="Courier New" pitchFamily="49" charset="-120"/>
              </a:rPr>
              <a:t>APPR.HQ_MGR</a:t>
            </a:r>
            <a:endParaRPr lang="en-US" sz="1200" dirty="0"/>
          </a:p>
        </p:txBody>
      </p:sp>
      <p:sp>
        <p:nvSpPr>
          <p:cNvPr id="10" name="Shape 8"/>
          <p:cNvSpPr/>
          <p:nvPr/>
        </p:nvSpPr>
        <p:spPr>
          <a:xfrm>
            <a:off x="2870200" y="2839721"/>
            <a:ext cx="666750" cy="228600"/>
          </a:xfrm>
          <a:prstGeom prst="rect">
            <a:avLst/>
          </a:prstGeom>
          <a:solidFill>
            <a:srgbClr val="B3B3B3"/>
          </a:solidFill>
          <a:ln/>
        </p:spPr>
        <p:txBody>
          <a:bodyPr/>
          <a:lstStyle/>
          <a:p>
            <a:endParaRPr lang="en-US"/>
          </a:p>
        </p:txBody>
      </p:sp>
      <p:sp>
        <p:nvSpPr>
          <p:cNvPr id="11" name="Text 9"/>
          <p:cNvSpPr/>
          <p:nvPr/>
        </p:nvSpPr>
        <p:spPr>
          <a:xfrm>
            <a:off x="3689350" y="2829561"/>
            <a:ext cx="10668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959"/>
                </a:solidFill>
                <a:latin typeface="Courier New" pitchFamily="49" charset="0"/>
                <a:ea typeface="Courier New" pitchFamily="49" charset="-122"/>
                <a:cs typeface="Courier New" pitchFamily="49" charset="-120"/>
              </a:rPr>
              <a:t>1.8 days</a:t>
            </a:r>
            <a:endParaRPr lang="en-US" sz="1400" dirty="0"/>
          </a:p>
        </p:txBody>
      </p:sp>
      <p:sp>
        <p:nvSpPr>
          <p:cNvPr id="12" name="Text 10"/>
          <p:cNvSpPr/>
          <p:nvPr/>
        </p:nvSpPr>
        <p:spPr>
          <a:xfrm>
            <a:off x="812800" y="3248661"/>
            <a:ext cx="19621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959"/>
                </a:solidFill>
                <a:latin typeface="Courier New" pitchFamily="49" charset="0"/>
                <a:ea typeface="Courier New" pitchFamily="49" charset="-122"/>
                <a:cs typeface="Courier New" pitchFamily="49" charset="-120"/>
              </a:rPr>
              <a:t>APPR.OPS_MGR</a:t>
            </a:r>
            <a:endParaRPr lang="en-US" sz="1200" dirty="0"/>
          </a:p>
        </p:txBody>
      </p:sp>
      <p:sp>
        <p:nvSpPr>
          <p:cNvPr id="13" name="Shape 11"/>
          <p:cNvSpPr/>
          <p:nvPr/>
        </p:nvSpPr>
        <p:spPr>
          <a:xfrm>
            <a:off x="2870200" y="3241039"/>
            <a:ext cx="666750" cy="228600"/>
          </a:xfrm>
          <a:prstGeom prst="rect">
            <a:avLst/>
          </a:prstGeom>
          <a:solidFill>
            <a:srgbClr val="B3B3B3"/>
          </a:solidFill>
          <a:ln/>
        </p:spPr>
        <p:txBody>
          <a:bodyPr/>
          <a:lstStyle/>
          <a:p>
            <a:endParaRPr lang="en-US"/>
          </a:p>
        </p:txBody>
      </p:sp>
      <p:sp>
        <p:nvSpPr>
          <p:cNvPr id="14" name="Text 12"/>
          <p:cNvSpPr/>
          <p:nvPr/>
        </p:nvSpPr>
        <p:spPr>
          <a:xfrm>
            <a:off x="3689350" y="3230882"/>
            <a:ext cx="10668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959"/>
                </a:solidFill>
                <a:latin typeface="Courier New" pitchFamily="49" charset="0"/>
                <a:ea typeface="Courier New" pitchFamily="49" charset="-122"/>
                <a:cs typeface="Courier New" pitchFamily="49" charset="-120"/>
              </a:rPr>
              <a:t>1.8 days</a:t>
            </a:r>
            <a:endParaRPr lang="en-US" sz="1400" dirty="0"/>
          </a:p>
        </p:txBody>
      </p:sp>
      <p:sp>
        <p:nvSpPr>
          <p:cNvPr id="15" name="Text 13"/>
          <p:cNvSpPr/>
          <p:nvPr/>
        </p:nvSpPr>
        <p:spPr>
          <a:xfrm>
            <a:off x="812800" y="3649982"/>
            <a:ext cx="19621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959"/>
                </a:solidFill>
                <a:latin typeface="Courier New" pitchFamily="49" charset="0"/>
                <a:ea typeface="Courier New" pitchFamily="49" charset="-122"/>
                <a:cs typeface="Courier New" pitchFamily="49" charset="-120"/>
              </a:rPr>
              <a:t>APPR.FM_MGR</a:t>
            </a:r>
            <a:endParaRPr lang="en-US" sz="1200" dirty="0"/>
          </a:p>
        </p:txBody>
      </p:sp>
      <p:sp>
        <p:nvSpPr>
          <p:cNvPr id="16" name="Shape 14"/>
          <p:cNvSpPr/>
          <p:nvPr/>
        </p:nvSpPr>
        <p:spPr>
          <a:xfrm>
            <a:off x="2870200" y="3642361"/>
            <a:ext cx="635000" cy="228600"/>
          </a:xfrm>
          <a:prstGeom prst="rect">
            <a:avLst/>
          </a:prstGeom>
          <a:solidFill>
            <a:srgbClr val="B3B3B3"/>
          </a:solidFill>
          <a:ln/>
        </p:spPr>
        <p:txBody>
          <a:bodyPr/>
          <a:lstStyle/>
          <a:p>
            <a:endParaRPr lang="en-US"/>
          </a:p>
        </p:txBody>
      </p:sp>
      <p:sp>
        <p:nvSpPr>
          <p:cNvPr id="17" name="Text 15"/>
          <p:cNvSpPr/>
          <p:nvPr/>
        </p:nvSpPr>
        <p:spPr>
          <a:xfrm>
            <a:off x="3657600" y="3632200"/>
            <a:ext cx="10668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959"/>
                </a:solidFill>
                <a:latin typeface="Courier New" pitchFamily="49" charset="0"/>
                <a:ea typeface="Courier New" pitchFamily="49" charset="-122"/>
                <a:cs typeface="Courier New" pitchFamily="49" charset="-120"/>
              </a:rPr>
              <a:t>1.7 days</a:t>
            </a:r>
            <a:endParaRPr lang="en-US" sz="1400" dirty="0"/>
          </a:p>
        </p:txBody>
      </p:sp>
      <p:sp>
        <p:nvSpPr>
          <p:cNvPr id="18" name="Text 16"/>
          <p:cNvSpPr/>
          <p:nvPr/>
        </p:nvSpPr>
        <p:spPr>
          <a:xfrm>
            <a:off x="812800" y="4084321"/>
            <a:ext cx="680212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265 requisition lines, worth AED 26.0M, waited on this one approver. All of them are AD_OPERATIONS purchases.</a:t>
            </a:r>
            <a:endParaRPr lang="en-US" sz="1400" dirty="0"/>
          </a:p>
        </p:txBody>
      </p:sp>
      <p:sp>
        <p:nvSpPr>
          <p:cNvPr id="19" name="Shape 17"/>
          <p:cNvSpPr/>
          <p:nvPr/>
        </p:nvSpPr>
        <p:spPr>
          <a:xfrm>
            <a:off x="7826375" y="1979296"/>
            <a:ext cx="3549650" cy="2599690"/>
          </a:xfrm>
          <a:prstGeom prst="rect">
            <a:avLst/>
          </a:prstGeom>
          <a:solidFill>
            <a:srgbClr val="F7F7F7"/>
          </a:solidFill>
          <a:ln w="6350">
            <a:solidFill>
              <a:srgbClr val="0D0D0D">
                <a:alpha val="12000"/>
              </a:srgbClr>
            </a:solidFill>
            <a:prstDash val="solid"/>
          </a:ln>
        </p:spPr>
        <p:txBody>
          <a:bodyPr/>
          <a:lstStyle/>
          <a:p>
            <a:endParaRPr lang="en-US"/>
          </a:p>
        </p:txBody>
      </p:sp>
      <p:sp>
        <p:nvSpPr>
          <p:cNvPr id="20" name="Text 18"/>
          <p:cNvSpPr/>
          <p:nvPr/>
        </p:nvSpPr>
        <p:spPr>
          <a:xfrm>
            <a:off x="8082280" y="2235200"/>
            <a:ext cx="3128975"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95959"/>
                </a:solidFill>
                <a:latin typeface="Courier New" pitchFamily="49" charset="0"/>
                <a:ea typeface="Courier New" pitchFamily="49" charset="-122"/>
                <a:cs typeface="Courier New" pitchFamily="49" charset="-120"/>
              </a:rPr>
              <a:t>RECOMMENDATION</a:t>
            </a:r>
            <a:endParaRPr lang="en-US" sz="1200" dirty="0"/>
          </a:p>
        </p:txBody>
      </p:sp>
      <p:sp>
        <p:nvSpPr>
          <p:cNvPr id="21" name="Text 19"/>
          <p:cNvSpPr/>
          <p:nvPr/>
        </p:nvSpPr>
        <p:spPr>
          <a:xfrm>
            <a:off x="8082280" y="2575561"/>
            <a:ext cx="312897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Set an approval time limit with automatic escalation.</a:t>
            </a:r>
            <a:endParaRPr lang="en-US" sz="1400" dirty="0"/>
          </a:p>
        </p:txBody>
      </p:sp>
      <p:sp>
        <p:nvSpPr>
          <p:cNvPr id="22" name="Text 20"/>
          <p:cNvSpPr/>
          <p:nvPr/>
        </p:nvSpPr>
        <p:spPr>
          <a:xfrm>
            <a:off x="8082280" y="3200400"/>
            <a:ext cx="312897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Add a delegate for high-value AD_OPERATIONS requisitions.</a:t>
            </a:r>
            <a:endParaRPr lang="en-US" sz="1400" dirty="0"/>
          </a:p>
        </p:txBody>
      </p:sp>
      <p:sp>
        <p:nvSpPr>
          <p:cNvPr id="23" name="Text 21"/>
          <p:cNvSpPr/>
          <p:nvPr/>
        </p:nvSpPr>
        <p:spPr>
          <a:xfrm>
            <a:off x="8082280" y="3825239"/>
            <a:ext cx="312897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Review whether this approval level is needed on every line.</a:t>
            </a:r>
            <a:endParaRPr lang="en-US" sz="1400" dirty="0"/>
          </a:p>
        </p:txBody>
      </p:sp>
      <p:sp>
        <p:nvSpPr>
          <p:cNvPr id="24" name="Text 22"/>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595959"/>
                </a:solidFill>
                <a:latin typeface="Courier New" pitchFamily="49" charset="0"/>
                <a:ea typeface="Courier New" pitchFamily="49" charset="-122"/>
                <a:cs typeface="Courier New" pitchFamily="49" charset="-120"/>
              </a:rPr>
              <a:t>VIZIO AI · DX STUDIO — SYNTHETIC DEMO DATA</a:t>
            </a:r>
            <a:endParaRPr lang="en-US" sz="1200" dirty="0"/>
          </a:p>
        </p:txBody>
      </p:sp>
      <p:sp>
        <p:nvSpPr>
          <p:cNvPr id="25" name="Text 23"/>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95959"/>
                </a:solidFill>
                <a:latin typeface="Courier New" pitchFamily="49" charset="0"/>
                <a:ea typeface="Courier New" pitchFamily="49" charset="-122"/>
                <a:cs typeface="Courier New"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5500" y="812800"/>
            <a:ext cx="0" cy="238760"/>
          </a:xfrm>
          <a:prstGeom prst="line">
            <a:avLst/>
          </a:prstGeom>
          <a:noFill/>
          <a:ln w="25400">
            <a:solidFill>
              <a:srgbClr val="DA3A38"/>
            </a:solidFill>
            <a:prstDash val="solid"/>
          </a:ln>
        </p:spPr>
        <p:txBody>
          <a:bodyPr/>
          <a:lstStyle/>
          <a:p>
            <a:endParaRPr lang="en-US"/>
          </a:p>
        </p:txBody>
      </p:sp>
      <p:sp>
        <p:nvSpPr>
          <p:cNvPr id="3" name="Text 1"/>
          <p:cNvSpPr/>
          <p:nvPr/>
        </p:nvSpPr>
        <p:spPr>
          <a:xfrm>
            <a:off x="939800" y="825500"/>
            <a:ext cx="1075258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95959"/>
                </a:solidFill>
                <a:latin typeface="Courier New" pitchFamily="49" charset="0"/>
                <a:ea typeface="Courier New" pitchFamily="49" charset="-122"/>
                <a:cs typeface="Courier New" pitchFamily="49" charset="-120"/>
              </a:rPr>
              <a:t>FINDING 02 · PURCHASING COMPLIANCE</a:t>
            </a:r>
            <a:endParaRPr lang="en-US" sz="1200" dirty="0"/>
          </a:p>
        </p:txBody>
      </p:sp>
      <p:sp>
        <p:nvSpPr>
          <p:cNvPr id="4" name="Text 2"/>
          <p:cNvSpPr>
            <a:spLocks noGrp="1"/>
          </p:cNvSpPr>
          <p:nvPr>
            <p:ph type="title"/>
          </p:nvPr>
        </p:nvSpPr>
        <p:spPr>
          <a:xfrm>
            <a:off x="812800" y="12039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0" i="1" dirty="0">
                <a:solidFill>
                  <a:srgbClr val="0D0D0D"/>
                </a:solidFill>
                <a:latin typeface="Georgia" pitchFamily="18" charset="0"/>
                <a:ea typeface="Georgia" pitchFamily="18" charset="-122"/>
                <a:cs typeface="Georgia" pitchFamily="18" charset="-120"/>
              </a:rPr>
              <a:t>Some POs are raised after the invoice</a:t>
            </a:r>
            <a:r>
              <a:rPr lang="en-US" sz="3200" b="0" i="1" dirty="0">
                <a:solidFill>
                  <a:srgbClr val="DA3A38"/>
                </a:solidFill>
                <a:latin typeface="Georgia" pitchFamily="18" charset="0"/>
                <a:ea typeface="Georgia" pitchFamily="18" charset="-122"/>
                <a:cs typeface="Georgia" pitchFamily="18" charset="-120"/>
              </a:rPr>
              <a:t>.</a:t>
            </a:r>
            <a:endParaRPr lang="en-US" sz="3200" dirty="0"/>
          </a:p>
        </p:txBody>
      </p:sp>
      <p:sp>
        <p:nvSpPr>
          <p:cNvPr id="5" name="Shape 3"/>
          <p:cNvSpPr/>
          <p:nvPr/>
        </p:nvSpPr>
        <p:spPr>
          <a:xfrm>
            <a:off x="815975" y="1979296"/>
            <a:ext cx="3380264" cy="2142490"/>
          </a:xfrm>
          <a:prstGeom prst="rect">
            <a:avLst/>
          </a:prstGeom>
          <a:solidFill>
            <a:srgbClr val="F7F7F7"/>
          </a:solidFill>
          <a:ln w="6350">
            <a:solidFill>
              <a:srgbClr val="0D0D0D">
                <a:alpha val="12000"/>
              </a:srgbClr>
            </a:solidFill>
            <a:prstDash val="solid"/>
          </a:ln>
        </p:spPr>
        <p:txBody>
          <a:bodyPr/>
          <a:lstStyle/>
          <a:p>
            <a:endParaRPr lang="en-US"/>
          </a:p>
        </p:txBody>
      </p:sp>
      <p:sp>
        <p:nvSpPr>
          <p:cNvPr id="6" name="Text 4"/>
          <p:cNvSpPr/>
          <p:nvPr/>
        </p:nvSpPr>
        <p:spPr>
          <a:xfrm>
            <a:off x="1071880" y="2235200"/>
            <a:ext cx="2954507" cy="807720"/>
          </a:xfrm>
          <a:prstGeom prst="rect">
            <a:avLst/>
          </a:prstGeom>
          <a:noFill/>
          <a:ln/>
        </p:spPr>
        <p:txBody>
          <a:bodyPr wrap="square" lIns="0" tIns="0" rIns="0" bIns="0" rtlCol="0" anchor="t">
            <a:normAutofit/>
          </a:bodyPr>
          <a:lstStyle/>
          <a:p>
            <a:pPr marL="0" indent="0" algn="l">
              <a:lnSpc>
                <a:spcPts val="6160"/>
              </a:lnSpc>
              <a:buNone/>
            </a:pPr>
            <a:r>
              <a:rPr lang="en-US" sz="5600" dirty="0">
                <a:solidFill>
                  <a:srgbClr val="DA3A38"/>
                </a:solidFill>
                <a:latin typeface="Courier New" pitchFamily="49" charset="0"/>
                <a:ea typeface="Courier New" pitchFamily="49" charset="-122"/>
                <a:cs typeface="Courier New" pitchFamily="49" charset="-120"/>
              </a:rPr>
              <a:t>125</a:t>
            </a:r>
            <a:endParaRPr lang="en-US" sz="5600" dirty="0"/>
          </a:p>
        </p:txBody>
      </p:sp>
      <p:sp>
        <p:nvSpPr>
          <p:cNvPr id="7" name="Text 5"/>
          <p:cNvSpPr/>
          <p:nvPr/>
        </p:nvSpPr>
        <p:spPr>
          <a:xfrm>
            <a:off x="1071880" y="3119121"/>
            <a:ext cx="2954507"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PO lines (7.0%) had the invoice before the PO existed. AED 8.0M in line value.</a:t>
            </a:r>
            <a:endParaRPr lang="en-US" sz="1400" dirty="0"/>
          </a:p>
        </p:txBody>
      </p:sp>
      <p:sp>
        <p:nvSpPr>
          <p:cNvPr id="8" name="Shape 6"/>
          <p:cNvSpPr/>
          <p:nvPr/>
        </p:nvSpPr>
        <p:spPr>
          <a:xfrm>
            <a:off x="4405789" y="1979296"/>
            <a:ext cx="3380343" cy="2142490"/>
          </a:xfrm>
          <a:prstGeom prst="rect">
            <a:avLst/>
          </a:prstGeom>
          <a:solidFill>
            <a:srgbClr val="F7F7F7"/>
          </a:solidFill>
          <a:ln w="6350">
            <a:solidFill>
              <a:srgbClr val="0D0D0D">
                <a:alpha val="12000"/>
              </a:srgbClr>
            </a:solidFill>
            <a:prstDash val="solid"/>
          </a:ln>
        </p:spPr>
        <p:txBody>
          <a:bodyPr/>
          <a:lstStyle/>
          <a:p>
            <a:endParaRPr lang="en-US"/>
          </a:p>
        </p:txBody>
      </p:sp>
      <p:sp>
        <p:nvSpPr>
          <p:cNvPr id="9" name="Text 7"/>
          <p:cNvSpPr/>
          <p:nvPr/>
        </p:nvSpPr>
        <p:spPr>
          <a:xfrm>
            <a:off x="4661694" y="2235200"/>
            <a:ext cx="2954589" cy="807720"/>
          </a:xfrm>
          <a:prstGeom prst="rect">
            <a:avLst/>
          </a:prstGeom>
          <a:noFill/>
          <a:ln/>
        </p:spPr>
        <p:txBody>
          <a:bodyPr wrap="square" lIns="0" tIns="0" rIns="0" bIns="0" rtlCol="0" anchor="t">
            <a:normAutofit/>
          </a:bodyPr>
          <a:lstStyle/>
          <a:p>
            <a:pPr marL="0" indent="0" algn="l">
              <a:lnSpc>
                <a:spcPts val="6160"/>
              </a:lnSpc>
              <a:buNone/>
            </a:pPr>
            <a:r>
              <a:rPr lang="en-US" sz="5600" dirty="0">
                <a:solidFill>
                  <a:srgbClr val="0D0D0D"/>
                </a:solidFill>
                <a:latin typeface="Courier New" pitchFamily="49" charset="0"/>
                <a:ea typeface="Courier New" pitchFamily="49" charset="-122"/>
                <a:cs typeface="Courier New" pitchFamily="49" charset="-120"/>
              </a:rPr>
              <a:t>303</a:t>
            </a:r>
            <a:endParaRPr lang="en-US" sz="5600" dirty="0"/>
          </a:p>
        </p:txBody>
      </p:sp>
      <p:sp>
        <p:nvSpPr>
          <p:cNvPr id="10" name="Text 8"/>
          <p:cNvSpPr/>
          <p:nvPr/>
        </p:nvSpPr>
        <p:spPr>
          <a:xfrm>
            <a:off x="4661694" y="3119121"/>
            <a:ext cx="295458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PO lines (16.9%) were created with no requisition behind them.</a:t>
            </a:r>
            <a:endParaRPr lang="en-US" sz="1400" dirty="0"/>
          </a:p>
        </p:txBody>
      </p:sp>
      <p:sp>
        <p:nvSpPr>
          <p:cNvPr id="11" name="Shape 9"/>
          <p:cNvSpPr/>
          <p:nvPr/>
        </p:nvSpPr>
        <p:spPr>
          <a:xfrm>
            <a:off x="7995682" y="1979296"/>
            <a:ext cx="3380343" cy="2142490"/>
          </a:xfrm>
          <a:prstGeom prst="rect">
            <a:avLst/>
          </a:prstGeom>
          <a:solidFill>
            <a:srgbClr val="F7F7F7"/>
          </a:solidFill>
          <a:ln w="6350">
            <a:solidFill>
              <a:srgbClr val="0D0D0D">
                <a:alpha val="12000"/>
              </a:srgbClr>
            </a:solidFill>
            <a:prstDash val="solid"/>
          </a:ln>
        </p:spPr>
        <p:txBody>
          <a:bodyPr/>
          <a:lstStyle/>
          <a:p>
            <a:endParaRPr lang="en-US"/>
          </a:p>
        </p:txBody>
      </p:sp>
      <p:sp>
        <p:nvSpPr>
          <p:cNvPr id="12" name="Text 10"/>
          <p:cNvSpPr/>
          <p:nvPr/>
        </p:nvSpPr>
        <p:spPr>
          <a:xfrm>
            <a:off x="8251587" y="2235200"/>
            <a:ext cx="2954589"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95959"/>
                </a:solidFill>
                <a:latin typeface="Courier New" pitchFamily="49" charset="0"/>
                <a:ea typeface="Courier New" pitchFamily="49" charset="-122"/>
                <a:cs typeface="Courier New" pitchFamily="49" charset="-120"/>
              </a:rPr>
              <a:t>RECOMMENDATION</a:t>
            </a:r>
            <a:endParaRPr lang="en-US" sz="1200" dirty="0"/>
          </a:p>
        </p:txBody>
      </p:sp>
      <p:sp>
        <p:nvSpPr>
          <p:cNvPr id="13" name="Text 11"/>
          <p:cNvSpPr/>
          <p:nvPr/>
        </p:nvSpPr>
        <p:spPr>
          <a:xfrm>
            <a:off x="8251587" y="2575561"/>
            <a:ext cx="295458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Adopt a "no PO, no pay" rule with a short list of agreed exceptions.</a:t>
            </a:r>
            <a:endParaRPr lang="en-US" sz="1400" dirty="0"/>
          </a:p>
        </p:txBody>
      </p:sp>
      <p:sp>
        <p:nvSpPr>
          <p:cNvPr id="14" name="Text 12"/>
          <p:cNvSpPr/>
          <p:nvPr/>
        </p:nvSpPr>
        <p:spPr>
          <a:xfrm>
            <a:off x="8251587" y="3200400"/>
            <a:ext cx="295458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Report retroactive POs monthly by buyer and supplier.</a:t>
            </a:r>
            <a:endParaRPr lang="en-US" sz="1400" dirty="0"/>
          </a:p>
        </p:txBody>
      </p:sp>
      <p:sp>
        <p:nvSpPr>
          <p:cNvPr id="15" name="Text 13"/>
          <p:cNvSpPr/>
          <p:nvPr/>
        </p:nvSpPr>
        <p:spPr>
          <a:xfrm>
            <a:off x="812800" y="4429761"/>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959"/>
                </a:solidFill>
                <a:latin typeface="Arial" pitchFamily="34" charset="0"/>
                <a:ea typeface="Arial" pitchFamily="34" charset="-122"/>
                <a:cs typeface="Arial" pitchFamily="34" charset="-120"/>
              </a:rPr>
              <a:t>A PO raised after the invoice means the spend was committed without approval, and the PO only documents it afterwards.</a:t>
            </a:r>
            <a:endParaRPr lang="en-US" sz="1400" dirty="0"/>
          </a:p>
        </p:txBody>
      </p:sp>
      <p:sp>
        <p:nvSpPr>
          <p:cNvPr id="16" name="Text 14"/>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595959"/>
                </a:solidFill>
                <a:latin typeface="Courier New" pitchFamily="49" charset="0"/>
                <a:ea typeface="Courier New" pitchFamily="49" charset="-122"/>
                <a:cs typeface="Courier New" pitchFamily="49" charset="-120"/>
              </a:rPr>
              <a:t>VIZIO AI · DX STUDIO — SYNTHETIC DEMO DATA</a:t>
            </a:r>
            <a:endParaRPr lang="en-US" sz="1200" dirty="0"/>
          </a:p>
        </p:txBody>
      </p:sp>
      <p:sp>
        <p:nvSpPr>
          <p:cNvPr id="17" name="Text 15"/>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95959"/>
                </a:solidFill>
                <a:latin typeface="Courier New" pitchFamily="49" charset="0"/>
                <a:ea typeface="Courier New" pitchFamily="49" charset="-122"/>
                <a:cs typeface="Courier New"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5500" y="812800"/>
            <a:ext cx="0" cy="238760"/>
          </a:xfrm>
          <a:prstGeom prst="line">
            <a:avLst/>
          </a:prstGeom>
          <a:noFill/>
          <a:ln w="25400">
            <a:solidFill>
              <a:srgbClr val="DA3A38"/>
            </a:solidFill>
            <a:prstDash val="solid"/>
          </a:ln>
        </p:spPr>
        <p:txBody>
          <a:bodyPr/>
          <a:lstStyle/>
          <a:p>
            <a:endParaRPr lang="en-US"/>
          </a:p>
        </p:txBody>
      </p:sp>
      <p:sp>
        <p:nvSpPr>
          <p:cNvPr id="3" name="Text 1"/>
          <p:cNvSpPr/>
          <p:nvPr/>
        </p:nvSpPr>
        <p:spPr>
          <a:xfrm>
            <a:off x="939800" y="825500"/>
            <a:ext cx="1075258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95959"/>
                </a:solidFill>
                <a:latin typeface="Courier New" pitchFamily="49" charset="0"/>
                <a:ea typeface="Courier New" pitchFamily="49" charset="-122"/>
                <a:cs typeface="Courier New" pitchFamily="49" charset="-120"/>
              </a:rPr>
              <a:t>FINDING 03 · INVOICE EXCEPTIONS</a:t>
            </a:r>
            <a:endParaRPr lang="en-US" sz="1200" dirty="0"/>
          </a:p>
        </p:txBody>
      </p:sp>
      <p:sp>
        <p:nvSpPr>
          <p:cNvPr id="4" name="Text 2"/>
          <p:cNvSpPr>
            <a:spLocks noGrp="1"/>
          </p:cNvSpPr>
          <p:nvPr>
            <p:ph type="title"/>
          </p:nvPr>
        </p:nvSpPr>
        <p:spPr>
          <a:xfrm>
            <a:off x="812800" y="12039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0" i="1" dirty="0">
                <a:solidFill>
                  <a:srgbClr val="0D0D0D"/>
                </a:solidFill>
                <a:latin typeface="Georgia" pitchFamily="18" charset="0"/>
                <a:ea typeface="Georgia" pitchFamily="18" charset="-122"/>
                <a:cs typeface="Georgia" pitchFamily="18" charset="-120"/>
              </a:rPr>
              <a:t>One in three invoiced lines hits a hold</a:t>
            </a:r>
            <a:r>
              <a:rPr lang="en-US" sz="3200" b="0" i="1" dirty="0">
                <a:solidFill>
                  <a:srgbClr val="DA3A38"/>
                </a:solidFill>
                <a:latin typeface="Georgia" pitchFamily="18" charset="0"/>
                <a:ea typeface="Georgia" pitchFamily="18" charset="-122"/>
                <a:cs typeface="Georgia" pitchFamily="18" charset="-120"/>
              </a:rPr>
              <a:t>.</a:t>
            </a:r>
            <a:endParaRPr lang="en-US" sz="3200" dirty="0"/>
          </a:p>
        </p:txBody>
      </p:sp>
      <p:sp>
        <p:nvSpPr>
          <p:cNvPr id="5" name="Text 3"/>
          <p:cNvSpPr/>
          <p:nvPr/>
        </p:nvSpPr>
        <p:spPr>
          <a:xfrm>
            <a:off x="812800" y="1976121"/>
            <a:ext cx="680212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558 of 1,697 invoiced PO lines (33%) were held at least once. A line can carry more than one hold.</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2687321"/>
          <a:ext cx="6593840" cy="1534160"/>
        </p:xfrm>
        <a:graphic>
          <a:graphicData uri="http://schemas.openxmlformats.org/drawingml/2006/table">
            <a:tbl>
              <a:tblPr/>
              <a:tblGrid>
                <a:gridCol w="3033166">
                  <a:extLst>
                    <a:ext uri="{9D8B030D-6E8A-4147-A177-3AD203B41FA5}">
                      <a16:colId xmlns:a16="http://schemas.microsoft.com/office/drawing/2014/main" val="20000"/>
                    </a:ext>
                  </a:extLst>
                </a:gridCol>
                <a:gridCol w="1450645">
                  <a:extLst>
                    <a:ext uri="{9D8B030D-6E8A-4147-A177-3AD203B41FA5}">
                      <a16:colId xmlns:a16="http://schemas.microsoft.com/office/drawing/2014/main" val="20001"/>
                    </a:ext>
                  </a:extLst>
                </a:gridCol>
                <a:gridCol w="2110029">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262626"/>
                          </a:solidFill>
                          <a:latin typeface="Arial" pitchFamily="34" charset="0"/>
                          <a:ea typeface="Arial" pitchFamily="34" charset="-122"/>
                          <a:cs typeface="Arial" pitchFamily="34" charset="-120"/>
                        </a:rPr>
                        <a:t>Hold type</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1960"/>
                        </a:lnSpc>
                        <a:buNone/>
                      </a:pPr>
                      <a:r>
                        <a:rPr lang="en-US" sz="1400" b="1" dirty="0">
                          <a:solidFill>
                            <a:srgbClr val="262626"/>
                          </a:solidFill>
                          <a:latin typeface="Arial" pitchFamily="34" charset="0"/>
                          <a:ea typeface="Arial" pitchFamily="34" charset="-122"/>
                          <a:cs typeface="Arial" pitchFamily="34" charset="-120"/>
                        </a:rPr>
                        <a:t>PO lines</a:t>
                      </a:r>
                      <a:endParaRPr lang="en-US" sz="1400" dirty="0">
                        <a:latin typeface="Arial" charset="0"/>
                        <a:ea typeface="Arial" charset="0"/>
                        <a:cs typeface="Arial" charset="0"/>
                      </a:endParaRPr>
                    </a:p>
                  </a:txBody>
                  <a:tcPr marL="62230" marR="62230" marT="62230" marB="6223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1960"/>
                        </a:lnSpc>
                        <a:buNone/>
                      </a:pPr>
                      <a:r>
                        <a:rPr lang="en-US" sz="1400" b="1" dirty="0">
                          <a:solidFill>
                            <a:srgbClr val="262626"/>
                          </a:solidFill>
                          <a:latin typeface="Arial" pitchFamily="34" charset="0"/>
                          <a:ea typeface="Arial" pitchFamily="34" charset="-122"/>
                          <a:cs typeface="Arial" pitchFamily="34" charset="-120"/>
                        </a:rPr>
                        <a:t>Median days held</a:t>
                      </a:r>
                      <a:endParaRPr lang="en-US" sz="1400" dirty="0">
                        <a:latin typeface="Arial" charset="0"/>
                        <a:ea typeface="Arial" charset="0"/>
                        <a:cs typeface="Arial" charset="0"/>
                      </a:endParaRPr>
                    </a:p>
                  </a:txBody>
                  <a:tcPr marL="62230" marR="62230" marT="62230" marB="6223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262626"/>
                          </a:solidFill>
                          <a:latin typeface="Arial" pitchFamily="34" charset="0"/>
                          <a:ea typeface="Arial" pitchFamily="34" charset="-122"/>
                          <a:cs typeface="Arial" pitchFamily="34" charset="-120"/>
                        </a:rPr>
                        <a:t>Not yet received</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262626"/>
                          </a:solidFill>
                          <a:latin typeface="Arial" pitchFamily="34" charset="0"/>
                          <a:ea typeface="Arial" pitchFamily="34" charset="-122"/>
                          <a:cs typeface="Arial" pitchFamily="34" charset="-120"/>
                        </a:rPr>
                        <a:t>394</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262626"/>
                          </a:solidFill>
                          <a:latin typeface="Arial" pitchFamily="34" charset="0"/>
                          <a:ea typeface="Arial" pitchFamily="34" charset="-122"/>
                          <a:cs typeface="Arial" pitchFamily="34" charset="-120"/>
                        </a:rPr>
                        <a:t>3.9</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262626"/>
                          </a:solidFill>
                          <a:latin typeface="Arial" pitchFamily="34" charset="0"/>
                          <a:ea typeface="Arial" pitchFamily="34" charset="-122"/>
                          <a:cs typeface="Arial" pitchFamily="34" charset="-120"/>
                        </a:rPr>
                        <a:t>Price variance</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262626"/>
                          </a:solidFill>
                          <a:latin typeface="Arial" pitchFamily="34" charset="0"/>
                          <a:ea typeface="Arial" pitchFamily="34" charset="-122"/>
                          <a:cs typeface="Arial" pitchFamily="34" charset="-120"/>
                        </a:rPr>
                        <a:t>121</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262626"/>
                          </a:solidFill>
                          <a:latin typeface="Arial" pitchFamily="34" charset="0"/>
                          <a:ea typeface="Arial" pitchFamily="34" charset="-122"/>
                          <a:cs typeface="Arial" pitchFamily="34" charset="-120"/>
                        </a:rPr>
                        <a:t>5.9</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262626"/>
                          </a:solidFill>
                          <a:latin typeface="Arial" pitchFamily="34" charset="0"/>
                          <a:ea typeface="Arial" pitchFamily="34" charset="-122"/>
                          <a:cs typeface="Arial" pitchFamily="34" charset="-120"/>
                        </a:rPr>
                        <a:t>VAT mismatch</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262626"/>
                          </a:solidFill>
                          <a:latin typeface="Arial" pitchFamily="34" charset="0"/>
                          <a:ea typeface="Arial" pitchFamily="34" charset="-122"/>
                          <a:cs typeface="Arial" pitchFamily="34" charset="-120"/>
                        </a:rPr>
                        <a:t>104</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262626"/>
                          </a:solidFill>
                          <a:latin typeface="Arial" pitchFamily="34" charset="0"/>
                          <a:ea typeface="Arial" pitchFamily="34" charset="-122"/>
                          <a:cs typeface="Arial" pitchFamily="34" charset="-120"/>
                        </a:rPr>
                        <a:t>7.1</a:t>
                      </a:r>
                      <a:endParaRPr lang="en-US" sz="1400" dirty="0">
                        <a:latin typeface="Arial" charset="0"/>
                        <a:ea typeface="Arial" charset="0"/>
                        <a:cs typeface="Arial"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7826375" y="1979296"/>
            <a:ext cx="3549650" cy="2848610"/>
          </a:xfrm>
          <a:prstGeom prst="rect">
            <a:avLst/>
          </a:prstGeom>
          <a:solidFill>
            <a:srgbClr val="F7F7F7"/>
          </a:solidFill>
          <a:ln w="6350">
            <a:solidFill>
              <a:srgbClr val="0D0D0D">
                <a:alpha val="12000"/>
              </a:srgbClr>
            </a:solidFill>
            <a:prstDash val="solid"/>
          </a:ln>
        </p:spPr>
        <p:txBody>
          <a:bodyPr/>
          <a:lstStyle/>
          <a:p>
            <a:endParaRPr lang="en-US"/>
          </a:p>
        </p:txBody>
      </p:sp>
      <p:sp>
        <p:nvSpPr>
          <p:cNvPr id="8" name="Text 5"/>
          <p:cNvSpPr/>
          <p:nvPr/>
        </p:nvSpPr>
        <p:spPr>
          <a:xfrm>
            <a:off x="8082280" y="2235200"/>
            <a:ext cx="3128975"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95959"/>
                </a:solidFill>
                <a:latin typeface="Courier New" pitchFamily="49" charset="0"/>
                <a:ea typeface="Courier New" pitchFamily="49" charset="-122"/>
                <a:cs typeface="Courier New" pitchFamily="49" charset="-120"/>
              </a:rPr>
              <a:t>RECOMMENDATION</a:t>
            </a:r>
            <a:endParaRPr lang="en-US" sz="1200" dirty="0"/>
          </a:p>
        </p:txBody>
      </p:sp>
      <p:sp>
        <p:nvSpPr>
          <p:cNvPr id="9" name="Text 6"/>
          <p:cNvSpPr/>
          <p:nvPr/>
        </p:nvSpPr>
        <p:spPr>
          <a:xfrm>
            <a:off x="8082280" y="2575561"/>
            <a:ext cx="3128975"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Remind requesters to confirm receipt before the invoice arrives, services especially.</a:t>
            </a:r>
            <a:endParaRPr lang="en-US" sz="1400" dirty="0"/>
          </a:p>
        </p:txBody>
      </p:sp>
      <p:sp>
        <p:nvSpPr>
          <p:cNvPr id="10" name="Text 7"/>
          <p:cNvSpPr/>
          <p:nvPr/>
        </p:nvSpPr>
        <p:spPr>
          <a:xfrm>
            <a:off x="8082280" y="3449321"/>
            <a:ext cx="312897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Review price tolerances with the suppliers behind most variances.</a:t>
            </a:r>
            <a:endParaRPr lang="en-US" sz="1400" dirty="0"/>
          </a:p>
        </p:txBody>
      </p:sp>
      <p:sp>
        <p:nvSpPr>
          <p:cNvPr id="11" name="Text 8"/>
          <p:cNvSpPr/>
          <p:nvPr/>
        </p:nvSpPr>
        <p:spPr>
          <a:xfrm>
            <a:off x="8082280" y="4074161"/>
            <a:ext cx="3128975"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Check VAT and tax registration when the invoice is captured, not after.</a:t>
            </a:r>
            <a:endParaRPr lang="en-US" sz="1400" dirty="0"/>
          </a:p>
        </p:txBody>
      </p:sp>
      <p:sp>
        <p:nvSpPr>
          <p:cNvPr id="12" name="Text 9"/>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595959"/>
                </a:solidFill>
                <a:latin typeface="Courier New" pitchFamily="49" charset="0"/>
                <a:ea typeface="Courier New" pitchFamily="49" charset="-122"/>
                <a:cs typeface="Courier New" pitchFamily="49" charset="-120"/>
              </a:rPr>
              <a:t>VIZIO AI · DX STUDIO — SYNTHETIC DEMO DATA</a:t>
            </a:r>
            <a:endParaRPr lang="en-US" sz="1200" dirty="0"/>
          </a:p>
        </p:txBody>
      </p:sp>
      <p:sp>
        <p:nvSpPr>
          <p:cNvPr id="13" name="Text 10"/>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95959"/>
                </a:solidFill>
                <a:latin typeface="Courier New" pitchFamily="49" charset="0"/>
                <a:ea typeface="Courier New" pitchFamily="49" charset="-122"/>
                <a:cs typeface="Courier New"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5500" y="812800"/>
            <a:ext cx="0" cy="238760"/>
          </a:xfrm>
          <a:prstGeom prst="line">
            <a:avLst/>
          </a:prstGeom>
          <a:noFill/>
          <a:ln w="25400">
            <a:solidFill>
              <a:srgbClr val="DA3A38"/>
            </a:solidFill>
            <a:prstDash val="solid"/>
          </a:ln>
        </p:spPr>
        <p:txBody>
          <a:bodyPr/>
          <a:lstStyle/>
          <a:p>
            <a:endParaRPr lang="en-US"/>
          </a:p>
        </p:txBody>
      </p:sp>
      <p:sp>
        <p:nvSpPr>
          <p:cNvPr id="3" name="Text 1"/>
          <p:cNvSpPr/>
          <p:nvPr/>
        </p:nvSpPr>
        <p:spPr>
          <a:xfrm>
            <a:off x="939800" y="825500"/>
            <a:ext cx="1075258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95959"/>
                </a:solidFill>
                <a:latin typeface="Courier New" pitchFamily="49" charset="0"/>
                <a:ea typeface="Courier New" pitchFamily="49" charset="-122"/>
                <a:cs typeface="Courier New" pitchFamily="49" charset="-120"/>
              </a:rPr>
              <a:t>FINDING 04 · MANUAL INTERVENTION</a:t>
            </a:r>
            <a:endParaRPr lang="en-US" sz="1200" dirty="0"/>
          </a:p>
        </p:txBody>
      </p:sp>
      <p:sp>
        <p:nvSpPr>
          <p:cNvPr id="4" name="Text 2"/>
          <p:cNvSpPr>
            <a:spLocks noGrp="1"/>
          </p:cNvSpPr>
          <p:nvPr>
            <p:ph type="title"/>
          </p:nvPr>
        </p:nvSpPr>
        <p:spPr>
          <a:xfrm>
            <a:off x="812800" y="1203961"/>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0" i="1" dirty="0">
                <a:solidFill>
                  <a:srgbClr val="0D0D0D"/>
                </a:solidFill>
                <a:latin typeface="Georgia" pitchFamily="18" charset="0"/>
                <a:ea typeface="Georgia" pitchFamily="18" charset="-122"/>
                <a:cs typeface="Georgia" pitchFamily="18" charset="-120"/>
              </a:rPr>
              <a:t>Most steps are still done by hand</a:t>
            </a:r>
            <a:r>
              <a:rPr lang="en-US" sz="3200" b="0" i="1" dirty="0">
                <a:solidFill>
                  <a:srgbClr val="DA3A38"/>
                </a:solidFill>
                <a:latin typeface="Georgia" pitchFamily="18" charset="0"/>
                <a:ea typeface="Georgia" pitchFamily="18" charset="-122"/>
                <a:cs typeface="Georgia" pitchFamily="18" charset="-120"/>
              </a:rPr>
              <a:t>.</a:t>
            </a:r>
            <a:endParaRPr lang="en-US" sz="3200" dirty="0"/>
          </a:p>
        </p:txBody>
      </p:sp>
      <p:sp>
        <p:nvSpPr>
          <p:cNvPr id="5" name="Shape 3"/>
          <p:cNvSpPr/>
          <p:nvPr/>
        </p:nvSpPr>
        <p:spPr>
          <a:xfrm>
            <a:off x="815975" y="1979296"/>
            <a:ext cx="3041650" cy="3469640"/>
          </a:xfrm>
          <a:prstGeom prst="rect">
            <a:avLst/>
          </a:prstGeom>
          <a:solidFill>
            <a:srgbClr val="F7F7F7"/>
          </a:solidFill>
          <a:ln w="6350">
            <a:solidFill>
              <a:srgbClr val="0D0D0D">
                <a:alpha val="12000"/>
              </a:srgbClr>
            </a:solidFill>
            <a:prstDash val="solid"/>
          </a:ln>
        </p:spPr>
        <p:txBody>
          <a:bodyPr/>
          <a:lstStyle/>
          <a:p>
            <a:endParaRPr lang="en-US"/>
          </a:p>
        </p:txBody>
      </p:sp>
      <p:sp>
        <p:nvSpPr>
          <p:cNvPr id="6" name="Text 4"/>
          <p:cNvSpPr/>
          <p:nvPr/>
        </p:nvSpPr>
        <p:spPr>
          <a:xfrm>
            <a:off x="1071880" y="2235200"/>
            <a:ext cx="2605735" cy="807720"/>
          </a:xfrm>
          <a:prstGeom prst="rect">
            <a:avLst/>
          </a:prstGeom>
          <a:noFill/>
          <a:ln/>
        </p:spPr>
        <p:txBody>
          <a:bodyPr wrap="square" lIns="0" tIns="0" rIns="0" bIns="0" rtlCol="0" anchor="t">
            <a:normAutofit/>
          </a:bodyPr>
          <a:lstStyle/>
          <a:p>
            <a:pPr marL="0" indent="0" algn="l">
              <a:lnSpc>
                <a:spcPts val="6160"/>
              </a:lnSpc>
              <a:buNone/>
            </a:pPr>
            <a:r>
              <a:rPr lang="en-US" sz="5600" dirty="0">
                <a:solidFill>
                  <a:srgbClr val="DA3A38"/>
                </a:solidFill>
                <a:latin typeface="Courier New" pitchFamily="49" charset="0"/>
                <a:ea typeface="Courier New" pitchFamily="49" charset="-122"/>
                <a:cs typeface="Courier New" pitchFamily="49" charset="-120"/>
              </a:rPr>
              <a:t>73%</a:t>
            </a:r>
            <a:endParaRPr lang="en-US" sz="5600" dirty="0"/>
          </a:p>
        </p:txBody>
      </p:sp>
      <p:sp>
        <p:nvSpPr>
          <p:cNvPr id="7" name="Text 5"/>
          <p:cNvSpPr/>
          <p:nvPr/>
        </p:nvSpPr>
        <p:spPr>
          <a:xfrm>
            <a:off x="1071880" y="3119121"/>
            <a:ext cx="2605735"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of all events were done by a person rather than a system account.</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75760" y="1986281"/>
          <a:ext cx="7203440" cy="1784350"/>
        </p:xfrm>
        <a:graphic>
          <a:graphicData uri="http://schemas.openxmlformats.org/drawingml/2006/table">
            <a:tbl>
              <a:tblPr/>
              <a:tblGrid>
                <a:gridCol w="5042408">
                  <a:extLst>
                    <a:ext uri="{9D8B030D-6E8A-4147-A177-3AD203B41FA5}">
                      <a16:colId xmlns:a16="http://schemas.microsoft.com/office/drawing/2014/main" val="20000"/>
                    </a:ext>
                  </a:extLst>
                </a:gridCol>
                <a:gridCol w="2161032">
                  <a:extLst>
                    <a:ext uri="{9D8B030D-6E8A-4147-A177-3AD203B41FA5}">
                      <a16:colId xmlns:a16="http://schemas.microsoft.com/office/drawing/2014/main" val="20001"/>
                    </a:ext>
                  </a:extLst>
                </a:gridCol>
              </a:tblGrid>
              <a:tr h="356870">
                <a:tc>
                  <a:txBody>
                    <a:bodyPr/>
                    <a:lstStyle/>
                    <a:p>
                      <a:pPr marL="0" indent="0">
                        <a:lnSpc>
                          <a:spcPts val="1820"/>
                        </a:lnSpc>
                        <a:buNone/>
                      </a:pPr>
                      <a:r>
                        <a:rPr lang="en-US" sz="1300" b="1" dirty="0">
                          <a:solidFill>
                            <a:srgbClr val="262626"/>
                          </a:solidFill>
                          <a:latin typeface="Arial" pitchFamily="34" charset="0"/>
                          <a:ea typeface="Arial" pitchFamily="34" charset="-122"/>
                          <a:cs typeface="Arial" pitchFamily="34" charset="-120"/>
                        </a:rPr>
                        <a:t>Step that could be automated</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1820"/>
                        </a:lnSpc>
                        <a:buNone/>
                      </a:pPr>
                      <a:r>
                        <a:rPr lang="en-US" sz="1300" b="1" dirty="0">
                          <a:solidFill>
                            <a:srgbClr val="262626"/>
                          </a:solidFill>
                          <a:latin typeface="Arial" pitchFamily="34" charset="0"/>
                          <a:ea typeface="Arial" pitchFamily="34" charset="-122"/>
                          <a:cs typeface="Arial" pitchFamily="34" charset="-120"/>
                        </a:rPr>
                        <a:t>Done by hand</a:t>
                      </a:r>
                      <a:endParaRPr lang="en-US" sz="1300" dirty="0">
                        <a:latin typeface="Arial" charset="0"/>
                        <a:ea typeface="Arial" charset="0"/>
                        <a:cs typeface="Arial" charset="0"/>
                      </a:endParaRPr>
                    </a:p>
                  </a:txBody>
                  <a:tcPr marL="57785" marR="57785" marT="57785" marB="57785">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Create PO</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262626"/>
                          </a:solidFill>
                          <a:latin typeface="Arial" pitchFamily="34" charset="0"/>
                          <a:ea typeface="Arial" pitchFamily="34" charset="-122"/>
                          <a:cs typeface="Arial" pitchFamily="34" charset="-120"/>
                        </a:rPr>
                        <a:t>64%</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Receive Invoice (manual entry vs imaging)</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262626"/>
                          </a:solidFill>
                          <a:latin typeface="Arial" pitchFamily="34" charset="0"/>
                          <a:ea typeface="Arial" pitchFamily="34" charset="-122"/>
                          <a:cs typeface="Arial" pitchFamily="34" charset="-120"/>
                        </a:rPr>
                        <a:t>45%</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Release Invoice Hold</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262626"/>
                          </a:solidFill>
                          <a:latin typeface="Arial" pitchFamily="34" charset="0"/>
                          <a:ea typeface="Arial" pitchFamily="34" charset="-122"/>
                          <a:cs typeface="Arial" pitchFamily="34" charset="-120"/>
                        </a:rPr>
                        <a:t>37%</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Pay Invoice (outside the payment run)</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820"/>
                        </a:lnSpc>
                        <a:buNone/>
                      </a:pPr>
                      <a:r>
                        <a:rPr lang="en-US" sz="1300" dirty="0">
                          <a:solidFill>
                            <a:srgbClr val="262626"/>
                          </a:solidFill>
                          <a:latin typeface="Arial" pitchFamily="34" charset="0"/>
                          <a:ea typeface="Arial" pitchFamily="34" charset="-122"/>
                          <a:cs typeface="Arial" pitchFamily="34" charset="-120"/>
                        </a:rPr>
                        <a:t>9%</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Shape 6"/>
          <p:cNvSpPr/>
          <p:nvPr/>
        </p:nvSpPr>
        <p:spPr>
          <a:xfrm>
            <a:off x="4168775" y="3977007"/>
            <a:ext cx="7207250" cy="1471930"/>
          </a:xfrm>
          <a:prstGeom prst="rect">
            <a:avLst/>
          </a:prstGeom>
          <a:solidFill>
            <a:srgbClr val="F7F7F7"/>
          </a:solidFill>
          <a:ln w="6350">
            <a:solidFill>
              <a:srgbClr val="0D0D0D">
                <a:alpha val="12000"/>
              </a:srgbClr>
            </a:solidFill>
            <a:prstDash val="solid"/>
          </a:ln>
        </p:spPr>
        <p:txBody>
          <a:bodyPr/>
          <a:lstStyle/>
          <a:p>
            <a:endParaRPr lang="en-US"/>
          </a:p>
        </p:txBody>
      </p:sp>
      <p:sp>
        <p:nvSpPr>
          <p:cNvPr id="10" name="Text 7"/>
          <p:cNvSpPr/>
          <p:nvPr/>
        </p:nvSpPr>
        <p:spPr>
          <a:xfrm>
            <a:off x="4424680" y="4182114"/>
            <a:ext cx="6896303"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95959"/>
                </a:solidFill>
                <a:latin typeface="Courier New" pitchFamily="49" charset="0"/>
                <a:ea typeface="Courier New" pitchFamily="49" charset="-122"/>
                <a:cs typeface="Courier New" pitchFamily="49" charset="-120"/>
              </a:rPr>
              <a:t>RECOMMENDATION</a:t>
            </a:r>
            <a:endParaRPr lang="en-US" sz="1200" dirty="0"/>
          </a:p>
        </p:txBody>
      </p:sp>
      <p:sp>
        <p:nvSpPr>
          <p:cNvPr id="11" name="Text 8"/>
          <p:cNvSpPr/>
          <p:nvPr/>
        </p:nvSpPr>
        <p:spPr>
          <a:xfrm>
            <a:off x="4424680" y="4497071"/>
            <a:ext cx="689630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Route more invoices through imaging instead of manual entry, and create POs automatically from approved requisitions where supplier and price are already agreed.</a:t>
            </a:r>
            <a:endParaRPr lang="en-US" sz="1400" dirty="0"/>
          </a:p>
        </p:txBody>
      </p:sp>
      <p:sp>
        <p:nvSpPr>
          <p:cNvPr id="12" name="Text 9"/>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595959"/>
                </a:solidFill>
                <a:latin typeface="Courier New" pitchFamily="49" charset="0"/>
                <a:ea typeface="Courier New" pitchFamily="49" charset="-122"/>
                <a:cs typeface="Courier New" pitchFamily="49" charset="-120"/>
              </a:rPr>
              <a:t>VIZIO AI · DX STUDIO — SYNTHETIC DEMO DATA</a:t>
            </a:r>
            <a:endParaRPr lang="en-US" sz="1200" dirty="0"/>
          </a:p>
        </p:txBody>
      </p:sp>
      <p:sp>
        <p:nvSpPr>
          <p:cNvPr id="13" name="Text 10"/>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95959"/>
                </a:solidFill>
                <a:latin typeface="Courier New" pitchFamily="49" charset="0"/>
                <a:ea typeface="Courier New" pitchFamily="49" charset="-122"/>
                <a:cs typeface="Courier New"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5500" y="812800"/>
            <a:ext cx="0" cy="238760"/>
          </a:xfrm>
          <a:prstGeom prst="line">
            <a:avLst/>
          </a:prstGeom>
          <a:noFill/>
          <a:ln w="25400">
            <a:solidFill>
              <a:srgbClr val="DA3A38"/>
            </a:solidFill>
            <a:prstDash val="solid"/>
          </a:ln>
        </p:spPr>
        <p:txBody>
          <a:bodyPr/>
          <a:lstStyle/>
          <a:p>
            <a:endParaRPr lang="en-US"/>
          </a:p>
        </p:txBody>
      </p:sp>
      <p:sp>
        <p:nvSpPr>
          <p:cNvPr id="3" name="Text 1"/>
          <p:cNvSpPr/>
          <p:nvPr/>
        </p:nvSpPr>
        <p:spPr>
          <a:xfrm>
            <a:off x="939800" y="825500"/>
            <a:ext cx="1075258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95959"/>
                </a:solidFill>
                <a:latin typeface="Courier New" pitchFamily="49" charset="0"/>
                <a:ea typeface="Courier New" pitchFamily="49" charset="-122"/>
                <a:cs typeface="Courier New" pitchFamily="49" charset="-120"/>
              </a:rPr>
              <a:t>FINDING 05 · SLOW PAYMENTS</a:t>
            </a:r>
            <a:endParaRPr lang="en-US" sz="1200" dirty="0"/>
          </a:p>
        </p:txBody>
      </p:sp>
      <p:sp>
        <p:nvSpPr>
          <p:cNvPr id="4" name="Text 2"/>
          <p:cNvSpPr>
            <a:spLocks noGrp="1"/>
          </p:cNvSpPr>
          <p:nvPr>
            <p:ph type="title"/>
          </p:nvPr>
        </p:nvSpPr>
        <p:spPr>
          <a:xfrm>
            <a:off x="812800" y="12039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0" i="1" dirty="0">
                <a:solidFill>
                  <a:srgbClr val="0D0D0D"/>
                </a:solidFill>
                <a:latin typeface="Georgia" pitchFamily="18" charset="0"/>
                <a:ea typeface="Georgia" pitchFamily="18" charset="-122"/>
                <a:cs typeface="Georgia" pitchFamily="18" charset="-120"/>
              </a:rPr>
              <a:t>Late payments need a different explanation</a:t>
            </a:r>
            <a:r>
              <a:rPr lang="en-US" sz="3200" b="0" i="1" dirty="0">
                <a:solidFill>
                  <a:srgbClr val="DA3A38"/>
                </a:solidFill>
                <a:latin typeface="Georgia" pitchFamily="18" charset="0"/>
                <a:ea typeface="Georgia" pitchFamily="18" charset="-122"/>
                <a:cs typeface="Georgia" pitchFamily="18" charset="-120"/>
              </a:rPr>
              <a:t>.</a:t>
            </a:r>
            <a:endParaRPr lang="en-US" sz="3200" dirty="0"/>
          </a:p>
        </p:txBody>
      </p:sp>
      <p:sp>
        <p:nvSpPr>
          <p:cNvPr id="5" name="Shape 3"/>
          <p:cNvSpPr/>
          <p:nvPr/>
        </p:nvSpPr>
        <p:spPr>
          <a:xfrm>
            <a:off x="815975" y="1979296"/>
            <a:ext cx="3380264" cy="1893570"/>
          </a:xfrm>
          <a:prstGeom prst="rect">
            <a:avLst/>
          </a:prstGeom>
          <a:solidFill>
            <a:srgbClr val="F7F7F7"/>
          </a:solidFill>
          <a:ln w="6350">
            <a:solidFill>
              <a:srgbClr val="0D0D0D">
                <a:alpha val="12000"/>
              </a:srgbClr>
            </a:solidFill>
            <a:prstDash val="solid"/>
          </a:ln>
        </p:spPr>
        <p:txBody>
          <a:bodyPr/>
          <a:lstStyle/>
          <a:p>
            <a:endParaRPr lang="en-US"/>
          </a:p>
        </p:txBody>
      </p:sp>
      <p:sp>
        <p:nvSpPr>
          <p:cNvPr id="6" name="Text 4"/>
          <p:cNvSpPr/>
          <p:nvPr/>
        </p:nvSpPr>
        <p:spPr>
          <a:xfrm>
            <a:off x="1071880" y="2235200"/>
            <a:ext cx="2954507" cy="807720"/>
          </a:xfrm>
          <a:prstGeom prst="rect">
            <a:avLst/>
          </a:prstGeom>
          <a:noFill/>
          <a:ln/>
        </p:spPr>
        <p:txBody>
          <a:bodyPr wrap="square" lIns="0" tIns="0" rIns="0" bIns="0" rtlCol="0" anchor="t">
            <a:normAutofit/>
          </a:bodyPr>
          <a:lstStyle/>
          <a:p>
            <a:pPr marL="0" indent="0" algn="l">
              <a:lnSpc>
                <a:spcPts val="6160"/>
              </a:lnSpc>
              <a:buNone/>
            </a:pPr>
            <a:r>
              <a:rPr lang="en-US" sz="5600" dirty="0">
                <a:solidFill>
                  <a:srgbClr val="DA3A38"/>
                </a:solidFill>
                <a:latin typeface="Courier New" pitchFamily="49" charset="0"/>
                <a:ea typeface="Courier New" pitchFamily="49" charset="-122"/>
                <a:cs typeface="Courier New" pitchFamily="49" charset="-120"/>
              </a:rPr>
              <a:t>25%</a:t>
            </a:r>
            <a:endParaRPr lang="en-US" sz="5600" dirty="0"/>
          </a:p>
        </p:txBody>
      </p:sp>
      <p:sp>
        <p:nvSpPr>
          <p:cNvPr id="7" name="Text 5"/>
          <p:cNvSpPr/>
          <p:nvPr/>
        </p:nvSpPr>
        <p:spPr>
          <a:xfrm>
            <a:off x="1071880" y="3119121"/>
            <a:ext cx="295450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of paid PO lines were paid after the due date: 397 of 1,617.</a:t>
            </a:r>
            <a:endParaRPr lang="en-US" sz="1400" dirty="0"/>
          </a:p>
        </p:txBody>
      </p:sp>
      <p:sp>
        <p:nvSpPr>
          <p:cNvPr id="8" name="Shape 6"/>
          <p:cNvSpPr/>
          <p:nvPr/>
        </p:nvSpPr>
        <p:spPr>
          <a:xfrm>
            <a:off x="4405789" y="1979296"/>
            <a:ext cx="3380343" cy="1893570"/>
          </a:xfrm>
          <a:prstGeom prst="rect">
            <a:avLst/>
          </a:prstGeom>
          <a:solidFill>
            <a:srgbClr val="F7F7F7"/>
          </a:solidFill>
          <a:ln w="6350">
            <a:solidFill>
              <a:srgbClr val="0D0D0D">
                <a:alpha val="12000"/>
              </a:srgbClr>
            </a:solidFill>
            <a:prstDash val="solid"/>
          </a:ln>
        </p:spPr>
        <p:txBody>
          <a:bodyPr/>
          <a:lstStyle/>
          <a:p>
            <a:endParaRPr lang="en-US"/>
          </a:p>
        </p:txBody>
      </p:sp>
      <p:sp>
        <p:nvSpPr>
          <p:cNvPr id="9" name="Text 7"/>
          <p:cNvSpPr/>
          <p:nvPr/>
        </p:nvSpPr>
        <p:spPr>
          <a:xfrm>
            <a:off x="4661694" y="2235200"/>
            <a:ext cx="2954589" cy="807720"/>
          </a:xfrm>
          <a:prstGeom prst="rect">
            <a:avLst/>
          </a:prstGeom>
          <a:noFill/>
          <a:ln/>
        </p:spPr>
        <p:txBody>
          <a:bodyPr wrap="square" lIns="0" tIns="0" rIns="0" bIns="0" rtlCol="0" anchor="t">
            <a:normAutofit/>
          </a:bodyPr>
          <a:lstStyle/>
          <a:p>
            <a:pPr marL="0" indent="0" algn="l">
              <a:lnSpc>
                <a:spcPts val="6160"/>
              </a:lnSpc>
              <a:buNone/>
            </a:pPr>
            <a:r>
              <a:rPr lang="en-US" sz="5600" dirty="0">
                <a:solidFill>
                  <a:srgbClr val="0D0D0D"/>
                </a:solidFill>
                <a:latin typeface="Courier New" pitchFamily="49" charset="0"/>
                <a:ea typeface="Courier New" pitchFamily="49" charset="-122"/>
                <a:cs typeface="Courier New" pitchFamily="49" charset="-120"/>
              </a:rPr>
              <a:t>25.6%</a:t>
            </a:r>
            <a:endParaRPr lang="en-US" sz="5600" dirty="0"/>
          </a:p>
        </p:txBody>
      </p:sp>
      <p:sp>
        <p:nvSpPr>
          <p:cNvPr id="10" name="Text 8"/>
          <p:cNvSpPr/>
          <p:nvPr/>
        </p:nvSpPr>
        <p:spPr>
          <a:xfrm>
            <a:off x="4661694" y="3119121"/>
            <a:ext cx="295458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late rate for lines that had an invoice hold.</a:t>
            </a:r>
            <a:endParaRPr lang="en-US" sz="1400" dirty="0"/>
          </a:p>
        </p:txBody>
      </p:sp>
      <p:sp>
        <p:nvSpPr>
          <p:cNvPr id="11" name="Shape 9"/>
          <p:cNvSpPr/>
          <p:nvPr/>
        </p:nvSpPr>
        <p:spPr>
          <a:xfrm>
            <a:off x="7995682" y="1979296"/>
            <a:ext cx="3380343" cy="1893570"/>
          </a:xfrm>
          <a:prstGeom prst="rect">
            <a:avLst/>
          </a:prstGeom>
          <a:solidFill>
            <a:srgbClr val="F7F7F7"/>
          </a:solidFill>
          <a:ln w="6350">
            <a:solidFill>
              <a:srgbClr val="0D0D0D">
                <a:alpha val="12000"/>
              </a:srgbClr>
            </a:solidFill>
            <a:prstDash val="solid"/>
          </a:ln>
        </p:spPr>
        <p:txBody>
          <a:bodyPr/>
          <a:lstStyle/>
          <a:p>
            <a:endParaRPr lang="en-US"/>
          </a:p>
        </p:txBody>
      </p:sp>
      <p:sp>
        <p:nvSpPr>
          <p:cNvPr id="12" name="Text 10"/>
          <p:cNvSpPr/>
          <p:nvPr/>
        </p:nvSpPr>
        <p:spPr>
          <a:xfrm>
            <a:off x="8251587" y="2235200"/>
            <a:ext cx="2954589" cy="807720"/>
          </a:xfrm>
          <a:prstGeom prst="rect">
            <a:avLst/>
          </a:prstGeom>
          <a:noFill/>
          <a:ln/>
        </p:spPr>
        <p:txBody>
          <a:bodyPr wrap="square" lIns="0" tIns="0" rIns="0" bIns="0" rtlCol="0" anchor="t">
            <a:normAutofit/>
          </a:bodyPr>
          <a:lstStyle/>
          <a:p>
            <a:pPr marL="0" indent="0" algn="l">
              <a:lnSpc>
                <a:spcPts val="6160"/>
              </a:lnSpc>
              <a:buNone/>
            </a:pPr>
            <a:r>
              <a:rPr lang="en-US" sz="5600" dirty="0">
                <a:solidFill>
                  <a:srgbClr val="0D0D0D"/>
                </a:solidFill>
                <a:latin typeface="Courier New" pitchFamily="49" charset="0"/>
                <a:ea typeface="Courier New" pitchFamily="49" charset="-122"/>
                <a:cs typeface="Courier New" pitchFamily="49" charset="-120"/>
              </a:rPr>
              <a:t>24.1%</a:t>
            </a:r>
            <a:endParaRPr lang="en-US" sz="5600" dirty="0"/>
          </a:p>
        </p:txBody>
      </p:sp>
      <p:sp>
        <p:nvSpPr>
          <p:cNvPr id="13" name="Text 11"/>
          <p:cNvSpPr/>
          <p:nvPr/>
        </p:nvSpPr>
        <p:spPr>
          <a:xfrm>
            <a:off x="8251587" y="3119121"/>
            <a:ext cx="312126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late rate for lines with no hold at all.</a:t>
            </a:r>
            <a:endParaRPr lang="en-US" sz="1400" dirty="0"/>
          </a:p>
        </p:txBody>
      </p:sp>
      <p:sp>
        <p:nvSpPr>
          <p:cNvPr id="14" name="Text 12"/>
          <p:cNvSpPr/>
          <p:nvPr/>
        </p:nvSpPr>
        <p:spPr>
          <a:xfrm>
            <a:off x="812800" y="4180842"/>
            <a:ext cx="1088339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Holds barely change the late rate here, so they are not the main cause. With the client's data we would test payment-run timing, payment terms and approval lead times next.</a:t>
            </a:r>
            <a:endParaRPr lang="en-US" sz="1400" dirty="0"/>
          </a:p>
        </p:txBody>
      </p:sp>
      <p:sp>
        <p:nvSpPr>
          <p:cNvPr id="15" name="Text 13"/>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595959"/>
                </a:solidFill>
                <a:latin typeface="Courier New" pitchFamily="49" charset="0"/>
                <a:ea typeface="Courier New" pitchFamily="49" charset="-122"/>
                <a:cs typeface="Courier New" pitchFamily="49" charset="-120"/>
              </a:rPr>
              <a:t>VIZIO AI · DX STUDIO — SYNTHETIC DEMO DATA</a:t>
            </a:r>
            <a:endParaRPr lang="en-US" sz="1200" dirty="0"/>
          </a:p>
        </p:txBody>
      </p:sp>
      <p:sp>
        <p:nvSpPr>
          <p:cNvPr id="16" name="Text 14"/>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95959"/>
                </a:solidFill>
                <a:latin typeface="Courier New" pitchFamily="49" charset="0"/>
                <a:ea typeface="Courier New" pitchFamily="49" charset="-122"/>
                <a:cs typeface="Courier New"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E4DA"/>
        </a:solidFill>
        <a:effectLst/>
      </p:bgPr>
    </p:bg>
    <p:spTree>
      <p:nvGrpSpPr>
        <p:cNvPr id="1" name=""/>
        <p:cNvGrpSpPr/>
        <p:nvPr/>
      </p:nvGrpSpPr>
      <p:grpSpPr>
        <a:xfrm>
          <a:off x="0" y="0"/>
          <a:ext cx="0" cy="0"/>
          <a:chOff x="0" y="0"/>
          <a:chExt cx="0" cy="0"/>
        </a:xfrm>
      </p:grpSpPr>
      <p:sp>
        <p:nvSpPr>
          <p:cNvPr id="2" name="Shape 0"/>
          <p:cNvSpPr/>
          <p:nvPr/>
        </p:nvSpPr>
        <p:spPr>
          <a:xfrm>
            <a:off x="825500" y="812800"/>
            <a:ext cx="0" cy="238760"/>
          </a:xfrm>
          <a:prstGeom prst="line">
            <a:avLst/>
          </a:prstGeom>
          <a:noFill/>
          <a:ln w="25400">
            <a:solidFill>
              <a:srgbClr val="DA3A38"/>
            </a:solidFill>
            <a:prstDash val="solid"/>
          </a:ln>
        </p:spPr>
        <p:txBody>
          <a:bodyPr/>
          <a:lstStyle/>
          <a:p>
            <a:endParaRPr lang="en-US"/>
          </a:p>
        </p:txBody>
      </p:sp>
      <p:sp>
        <p:nvSpPr>
          <p:cNvPr id="3" name="Text 1"/>
          <p:cNvSpPr/>
          <p:nvPr/>
        </p:nvSpPr>
        <p:spPr>
          <a:xfrm>
            <a:off x="939800" y="825500"/>
            <a:ext cx="1075258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404040"/>
                </a:solidFill>
                <a:latin typeface="Courier New" pitchFamily="49" charset="0"/>
                <a:ea typeface="Courier New" pitchFamily="49" charset="-122"/>
                <a:cs typeface="Courier New" pitchFamily="49" charset="-120"/>
              </a:rPr>
              <a:t>RECOMMENDATIONS</a:t>
            </a:r>
            <a:endParaRPr lang="en-US" sz="1200" dirty="0"/>
          </a:p>
        </p:txBody>
      </p:sp>
      <p:sp>
        <p:nvSpPr>
          <p:cNvPr id="4" name="Text 2"/>
          <p:cNvSpPr>
            <a:spLocks noGrp="1"/>
          </p:cNvSpPr>
          <p:nvPr>
            <p:ph type="title"/>
          </p:nvPr>
        </p:nvSpPr>
        <p:spPr>
          <a:xfrm>
            <a:off x="812800" y="12039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0" i="1" dirty="0">
                <a:solidFill>
                  <a:srgbClr val="0D0D0D"/>
                </a:solidFill>
                <a:latin typeface="Georgia" pitchFamily="18" charset="0"/>
                <a:ea typeface="Georgia" pitchFamily="18" charset="-122"/>
                <a:cs typeface="Georgia" pitchFamily="18" charset="-120"/>
              </a:rPr>
              <a:t>Where we would start</a:t>
            </a:r>
            <a:r>
              <a:rPr lang="en-US" sz="3200" b="0" i="1" dirty="0">
                <a:solidFill>
                  <a:srgbClr val="DA3A38"/>
                </a:solidFill>
                <a:latin typeface="Georgia" pitchFamily="18" charset="0"/>
                <a:ea typeface="Georgia" pitchFamily="18" charset="-122"/>
                <a:cs typeface="Georgia" pitchFamily="18" charset="-120"/>
              </a:rPr>
              <a: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986281"/>
          <a:ext cx="10556240" cy="2477770"/>
        </p:xfrm>
        <a:graphic>
          <a:graphicData uri="http://schemas.openxmlformats.org/drawingml/2006/table">
            <a:tbl>
              <a:tblPr/>
              <a:tblGrid>
                <a:gridCol w="738937">
                  <a:extLst>
                    <a:ext uri="{9D8B030D-6E8A-4147-A177-3AD203B41FA5}">
                      <a16:colId xmlns:a16="http://schemas.microsoft.com/office/drawing/2014/main" val="20000"/>
                    </a:ext>
                  </a:extLst>
                </a:gridCol>
                <a:gridCol w="5383682">
                  <a:extLst>
                    <a:ext uri="{9D8B030D-6E8A-4147-A177-3AD203B41FA5}">
                      <a16:colId xmlns:a16="http://schemas.microsoft.com/office/drawing/2014/main" val="20001"/>
                    </a:ext>
                  </a:extLst>
                </a:gridCol>
                <a:gridCol w="2322373">
                  <a:extLst>
                    <a:ext uri="{9D8B030D-6E8A-4147-A177-3AD203B41FA5}">
                      <a16:colId xmlns:a16="http://schemas.microsoft.com/office/drawing/2014/main" val="20002"/>
                    </a:ext>
                  </a:extLst>
                </a:gridCol>
                <a:gridCol w="2111248">
                  <a:extLst>
                    <a:ext uri="{9D8B030D-6E8A-4147-A177-3AD203B41FA5}">
                      <a16:colId xmlns:a16="http://schemas.microsoft.com/office/drawing/2014/main" val="20003"/>
                    </a:ext>
                  </a:extLst>
                </a:gridCol>
              </a:tblGrid>
              <a:tr h="356870">
                <a:tc>
                  <a:txBody>
                    <a:bodyPr/>
                    <a:lstStyle/>
                    <a:p>
                      <a:pPr marL="0" indent="0">
                        <a:lnSpc>
                          <a:spcPts val="1820"/>
                        </a:lnSpc>
                        <a:buNone/>
                      </a:pPr>
                      <a:r>
                        <a:rPr lang="en-US" sz="1300" b="1" dirty="0">
                          <a:solidFill>
                            <a:srgbClr val="262626"/>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7B6AE"/>
                      </a:solidFill>
                      <a:prstDash val="solid"/>
                      <a:round/>
                      <a:headEnd type="none" w="med" len="med"/>
                      <a:tailEnd type="none" w="med" len="med"/>
                    </a:lnL>
                    <a:lnR w="12700" cap="flat" cmpd="sng" algn="ctr">
                      <a:solidFill>
                        <a:srgbClr val="B9A9A2"/>
                      </a:solidFill>
                      <a:prstDash val="solid"/>
                      <a:round/>
                      <a:headEnd type="none" w="med" len="med"/>
                      <a:tailEnd type="none" w="med" len="med"/>
                    </a:lnR>
                    <a:lnT w="12700" cap="flat" cmpd="sng" algn="ctr">
                      <a:solidFill>
                        <a:srgbClr val="C7B6AE"/>
                      </a:solidFill>
                      <a:prstDash val="solid"/>
                      <a:round/>
                      <a:headEnd type="none" w="med" len="med"/>
                      <a:tailEnd type="none" w="med" len="med"/>
                    </a:lnT>
                    <a:lnB w="12700" cap="flat" cmpd="sng" algn="ctr">
                      <a:solidFill>
                        <a:srgbClr val="B9A9A2"/>
                      </a:solidFill>
                      <a:prstDash val="solid"/>
                      <a:round/>
                      <a:headEnd type="none" w="med" len="med"/>
                      <a:tailEnd type="none" w="med" len="med"/>
                    </a:lnB>
                    <a:solidFill>
                      <a:srgbClr val="E7D3CA"/>
                    </a:solidFill>
                  </a:tcPr>
                </a:tc>
                <a:tc>
                  <a:txBody>
                    <a:bodyPr/>
                    <a:lstStyle/>
                    <a:p>
                      <a:pPr marL="0" indent="0">
                        <a:lnSpc>
                          <a:spcPts val="1820"/>
                        </a:lnSpc>
                        <a:buNone/>
                      </a:pPr>
                      <a:r>
                        <a:rPr lang="en-US" sz="1300" b="1" dirty="0">
                          <a:solidFill>
                            <a:srgbClr val="262626"/>
                          </a:solidFill>
                          <a:latin typeface="Arial" pitchFamily="34" charset="0"/>
                          <a:ea typeface="Arial" pitchFamily="34" charset="-122"/>
                          <a:cs typeface="Arial" pitchFamily="34" charset="-120"/>
                        </a:rPr>
                        <a:t>Recommendation</a:t>
                      </a:r>
                      <a:endParaRPr lang="en-US" sz="1300" dirty="0">
                        <a:latin typeface="Arial" charset="0"/>
                        <a:ea typeface="Arial" charset="0"/>
                        <a:cs typeface="Arial" charset="0"/>
                      </a:endParaRPr>
                    </a:p>
                  </a:txBody>
                  <a:tcPr marL="57785" marR="57785" marT="57785" marB="57785">
                    <a:lnL w="12700" cap="flat" cmpd="sng" algn="ctr">
                      <a:solidFill>
                        <a:srgbClr val="B9A9A2"/>
                      </a:solidFill>
                      <a:prstDash val="solid"/>
                      <a:round/>
                      <a:headEnd type="none" w="med" len="med"/>
                      <a:tailEnd type="none" w="med" len="med"/>
                    </a:lnL>
                    <a:lnR w="12700" cap="flat" cmpd="sng" algn="ctr">
                      <a:solidFill>
                        <a:srgbClr val="B9A9A2"/>
                      </a:solidFill>
                      <a:prstDash val="solid"/>
                      <a:round/>
                      <a:headEnd type="none" w="med" len="med"/>
                      <a:tailEnd type="none" w="med" len="med"/>
                    </a:lnR>
                    <a:lnT w="12700" cap="flat" cmpd="sng" algn="ctr">
                      <a:solidFill>
                        <a:srgbClr val="C7B6AE"/>
                      </a:solidFill>
                      <a:prstDash val="solid"/>
                      <a:round/>
                      <a:headEnd type="none" w="med" len="med"/>
                      <a:tailEnd type="none" w="med" len="med"/>
                    </a:lnT>
                    <a:lnB w="12700" cap="flat" cmpd="sng" algn="ctr">
                      <a:solidFill>
                        <a:srgbClr val="B9A9A2"/>
                      </a:solidFill>
                      <a:prstDash val="solid"/>
                      <a:round/>
                      <a:headEnd type="none" w="med" len="med"/>
                      <a:tailEnd type="none" w="med" len="med"/>
                    </a:lnB>
                    <a:solidFill>
                      <a:srgbClr val="E7D3CA"/>
                    </a:solidFill>
                  </a:tcPr>
                </a:tc>
                <a:tc>
                  <a:txBody>
                    <a:bodyPr/>
                    <a:lstStyle/>
                    <a:p>
                      <a:pPr marL="0" indent="0">
                        <a:lnSpc>
                          <a:spcPts val="1820"/>
                        </a:lnSpc>
                        <a:buNone/>
                      </a:pPr>
                      <a:r>
                        <a:rPr lang="en-US" sz="1300" b="1" dirty="0">
                          <a:solidFill>
                            <a:srgbClr val="262626"/>
                          </a:solidFill>
                          <a:latin typeface="Arial" pitchFamily="34" charset="0"/>
                          <a:ea typeface="Arial" pitchFamily="34" charset="-122"/>
                          <a:cs typeface="Arial" pitchFamily="34" charset="-120"/>
                        </a:rPr>
                        <a:t>Addresses</a:t>
                      </a:r>
                      <a:endParaRPr lang="en-US" sz="1300" dirty="0">
                        <a:latin typeface="Arial" charset="0"/>
                        <a:ea typeface="Arial" charset="0"/>
                        <a:cs typeface="Arial" charset="0"/>
                      </a:endParaRPr>
                    </a:p>
                  </a:txBody>
                  <a:tcPr marL="57785" marR="57785" marT="57785" marB="57785">
                    <a:lnL w="12700" cap="flat" cmpd="sng" algn="ctr">
                      <a:solidFill>
                        <a:srgbClr val="B9A9A2"/>
                      </a:solidFill>
                      <a:prstDash val="solid"/>
                      <a:round/>
                      <a:headEnd type="none" w="med" len="med"/>
                      <a:tailEnd type="none" w="med" len="med"/>
                    </a:lnL>
                    <a:lnR w="12700" cap="flat" cmpd="sng" algn="ctr">
                      <a:solidFill>
                        <a:srgbClr val="B9A9A2"/>
                      </a:solidFill>
                      <a:prstDash val="solid"/>
                      <a:round/>
                      <a:headEnd type="none" w="med" len="med"/>
                      <a:tailEnd type="none" w="med" len="med"/>
                    </a:lnR>
                    <a:lnT w="12700" cap="flat" cmpd="sng" algn="ctr">
                      <a:solidFill>
                        <a:srgbClr val="C7B6AE"/>
                      </a:solidFill>
                      <a:prstDash val="solid"/>
                      <a:round/>
                      <a:headEnd type="none" w="med" len="med"/>
                      <a:tailEnd type="none" w="med" len="med"/>
                    </a:lnT>
                    <a:lnB w="12700" cap="flat" cmpd="sng" algn="ctr">
                      <a:solidFill>
                        <a:srgbClr val="B9A9A2"/>
                      </a:solidFill>
                      <a:prstDash val="solid"/>
                      <a:round/>
                      <a:headEnd type="none" w="med" len="med"/>
                      <a:tailEnd type="none" w="med" len="med"/>
                    </a:lnB>
                    <a:solidFill>
                      <a:srgbClr val="E7D3CA"/>
                    </a:solidFill>
                  </a:tcPr>
                </a:tc>
                <a:tc>
                  <a:txBody>
                    <a:bodyPr/>
                    <a:lstStyle/>
                    <a:p>
                      <a:pPr marL="0" indent="0">
                        <a:lnSpc>
                          <a:spcPts val="1820"/>
                        </a:lnSpc>
                        <a:buNone/>
                      </a:pPr>
                      <a:r>
                        <a:rPr lang="en-US" sz="1300" b="1" dirty="0">
                          <a:solidFill>
                            <a:srgbClr val="262626"/>
                          </a:solidFill>
                          <a:latin typeface="Arial" pitchFamily="34" charset="0"/>
                          <a:ea typeface="Arial" pitchFamily="34" charset="-122"/>
                          <a:cs typeface="Arial" pitchFamily="34" charset="-120"/>
                        </a:rPr>
                        <a:t>Kind of change</a:t>
                      </a:r>
                      <a:endParaRPr lang="en-US" sz="1300" dirty="0">
                        <a:latin typeface="Arial" charset="0"/>
                        <a:ea typeface="Arial" charset="0"/>
                        <a:cs typeface="Arial" charset="0"/>
                      </a:endParaRPr>
                    </a:p>
                  </a:txBody>
                  <a:tcPr marL="57785" marR="57785" marT="57785" marB="57785">
                    <a:lnL w="12700" cap="flat" cmpd="sng" algn="ctr">
                      <a:solidFill>
                        <a:srgbClr val="B9A9A2"/>
                      </a:solidFill>
                      <a:prstDash val="solid"/>
                      <a:round/>
                      <a:headEnd type="none" w="med" len="med"/>
                      <a:tailEnd type="none" w="med" len="med"/>
                    </a:lnL>
                    <a:lnR w="12700" cap="flat" cmpd="sng" algn="ctr">
                      <a:solidFill>
                        <a:srgbClr val="B9A9A2"/>
                      </a:solidFill>
                      <a:prstDash val="solid"/>
                      <a:round/>
                      <a:headEnd type="none" w="med" len="med"/>
                      <a:tailEnd type="none" w="med" len="med"/>
                    </a:lnR>
                    <a:lnT w="12700" cap="flat" cmpd="sng" algn="ctr">
                      <a:solidFill>
                        <a:srgbClr val="C7B6AE"/>
                      </a:solidFill>
                      <a:prstDash val="solid"/>
                      <a:round/>
                      <a:headEnd type="none" w="med" len="med"/>
                      <a:tailEnd type="none" w="med" len="med"/>
                    </a:lnT>
                    <a:lnB w="12700" cap="flat" cmpd="sng" algn="ctr">
                      <a:solidFill>
                        <a:srgbClr val="B9A9A2"/>
                      </a:solidFill>
                      <a:prstDash val="solid"/>
                      <a:round/>
                      <a:headEnd type="none" w="med" len="med"/>
                      <a:tailEnd type="none" w="med" len="med"/>
                    </a:lnB>
                    <a:solidFill>
                      <a:srgbClr val="E7D3CA"/>
                    </a:solidFill>
                  </a:tcPr>
                </a:tc>
                <a:extLst>
                  <a:ext uri="{0D108BD9-81ED-4DB2-BD59-A6C34878D82A}">
                    <a16:rowId xmlns:a16="http://schemas.microsoft.com/office/drawing/2014/main" val="10000"/>
                  </a:ext>
                </a:extLst>
              </a:tr>
              <a:tr h="588010">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01</a:t>
                      </a:r>
                      <a:endParaRPr lang="en-US" sz="1300" dirty="0">
                        <a:latin typeface="Arial" charset="0"/>
                        <a:ea typeface="Arial" charset="0"/>
                        <a:cs typeface="Arial" charset="0"/>
                      </a:endParaRPr>
                    </a:p>
                  </a:txBody>
                  <a:tcPr marL="57785" marR="57785" marT="57785" marB="57785">
                    <a:lnL w="12700" cap="flat" cmpd="sng" algn="ctr">
                      <a:solidFill>
                        <a:srgbClr val="C7B6AE"/>
                      </a:solidFill>
                      <a:prstDash val="solid"/>
                      <a:round/>
                      <a:headEnd type="none" w="med" len="med"/>
                      <a:tailEnd type="none" w="med" len="med"/>
                    </a:lnL>
                    <a:lnR w="12700" cap="flat" cmpd="sng" algn="ctr">
                      <a:solidFill>
                        <a:srgbClr val="C7B6AE"/>
                      </a:solidFill>
                      <a:prstDash val="solid"/>
                      <a:round/>
                      <a:headEnd type="none" w="med" len="med"/>
                      <a:tailEnd type="none" w="med" len="med"/>
                    </a:lnR>
                    <a:lnT w="12700" cap="flat" cmpd="sng" algn="ctr">
                      <a:solidFill>
                        <a:srgbClr val="B9A9A2"/>
                      </a:solidFill>
                      <a:prstDash val="solid"/>
                      <a:round/>
                      <a:headEnd type="none" w="med" len="med"/>
                      <a:tailEnd type="none" w="med" len="med"/>
                    </a:lnT>
                    <a:lnB w="12700" cap="flat" cmpd="sng" algn="ctr">
                      <a:solidFill>
                        <a:srgbClr val="C7B6AE"/>
                      </a:solidFill>
                      <a:prstDash val="solid"/>
                      <a:round/>
                      <a:headEnd type="none" w="med" len="med"/>
                      <a:tailEnd type="none" w="med" len="med"/>
                    </a:lnB>
                  </a:tcPr>
                </a:tc>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Approval time limit with escalation, plus a delegate for high-value requisitions</a:t>
                      </a:r>
                      <a:endParaRPr lang="en-US" sz="1300" dirty="0">
                        <a:latin typeface="Arial" charset="0"/>
                        <a:ea typeface="Arial" charset="0"/>
                        <a:cs typeface="Arial" charset="0"/>
                      </a:endParaRPr>
                    </a:p>
                  </a:txBody>
                  <a:tcPr marL="57785" marR="57785" marT="57785" marB="57785">
                    <a:lnL w="12700" cap="flat" cmpd="sng" algn="ctr">
                      <a:solidFill>
                        <a:srgbClr val="C7B6AE"/>
                      </a:solidFill>
                      <a:prstDash val="solid"/>
                      <a:round/>
                      <a:headEnd type="none" w="med" len="med"/>
                      <a:tailEnd type="none" w="med" len="med"/>
                    </a:lnL>
                    <a:lnR w="12700" cap="flat" cmpd="sng" algn="ctr">
                      <a:solidFill>
                        <a:srgbClr val="C7B6AE"/>
                      </a:solidFill>
                      <a:prstDash val="solid"/>
                      <a:round/>
                      <a:headEnd type="none" w="med" len="med"/>
                      <a:tailEnd type="none" w="med" len="med"/>
                    </a:lnR>
                    <a:lnT w="12700" cap="flat" cmpd="sng" algn="ctr">
                      <a:solidFill>
                        <a:srgbClr val="B9A9A2"/>
                      </a:solidFill>
                      <a:prstDash val="solid"/>
                      <a:round/>
                      <a:headEnd type="none" w="med" len="med"/>
                      <a:tailEnd type="none" w="med" len="med"/>
                    </a:lnT>
                    <a:lnB w="12700" cap="flat" cmpd="sng" algn="ctr">
                      <a:solidFill>
                        <a:srgbClr val="C7B6AE"/>
                      </a:solidFill>
                      <a:prstDash val="solid"/>
                      <a:round/>
                      <a:headEnd type="none" w="med" len="med"/>
                      <a:tailEnd type="none" w="med" len="med"/>
                    </a:lnB>
                  </a:tcPr>
                </a:tc>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Approval delays</a:t>
                      </a:r>
                      <a:endParaRPr lang="en-US" sz="1300" dirty="0">
                        <a:latin typeface="Arial" charset="0"/>
                        <a:ea typeface="Arial" charset="0"/>
                        <a:cs typeface="Arial" charset="0"/>
                      </a:endParaRPr>
                    </a:p>
                  </a:txBody>
                  <a:tcPr marL="57785" marR="57785" marT="57785" marB="57785">
                    <a:lnL w="12700" cap="flat" cmpd="sng" algn="ctr">
                      <a:solidFill>
                        <a:srgbClr val="C7B6AE"/>
                      </a:solidFill>
                      <a:prstDash val="solid"/>
                      <a:round/>
                      <a:headEnd type="none" w="med" len="med"/>
                      <a:tailEnd type="none" w="med" len="med"/>
                    </a:lnL>
                    <a:lnR w="12700" cap="flat" cmpd="sng" algn="ctr">
                      <a:solidFill>
                        <a:srgbClr val="C7B6AE"/>
                      </a:solidFill>
                      <a:prstDash val="solid"/>
                      <a:round/>
                      <a:headEnd type="none" w="med" len="med"/>
                      <a:tailEnd type="none" w="med" len="med"/>
                    </a:lnR>
                    <a:lnT w="12700" cap="flat" cmpd="sng" algn="ctr">
                      <a:solidFill>
                        <a:srgbClr val="B9A9A2"/>
                      </a:solidFill>
                      <a:prstDash val="solid"/>
                      <a:round/>
                      <a:headEnd type="none" w="med" len="med"/>
                      <a:tailEnd type="none" w="med" len="med"/>
                    </a:lnT>
                    <a:lnB w="12700" cap="flat" cmpd="sng" algn="ctr">
                      <a:solidFill>
                        <a:srgbClr val="C7B6AE"/>
                      </a:solidFill>
                      <a:prstDash val="solid"/>
                      <a:round/>
                      <a:headEnd type="none" w="med" len="med"/>
                      <a:tailEnd type="none" w="med" len="med"/>
                    </a:lnB>
                  </a:tcPr>
                </a:tc>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Process rule</a:t>
                      </a:r>
                      <a:endParaRPr lang="en-US" sz="1300" dirty="0">
                        <a:latin typeface="Arial" charset="0"/>
                        <a:ea typeface="Arial" charset="0"/>
                        <a:cs typeface="Arial" charset="0"/>
                      </a:endParaRPr>
                    </a:p>
                  </a:txBody>
                  <a:tcPr marL="57785" marR="57785" marT="57785" marB="57785">
                    <a:lnL w="12700" cap="flat" cmpd="sng" algn="ctr">
                      <a:solidFill>
                        <a:srgbClr val="C7B6AE"/>
                      </a:solidFill>
                      <a:prstDash val="solid"/>
                      <a:round/>
                      <a:headEnd type="none" w="med" len="med"/>
                      <a:tailEnd type="none" w="med" len="med"/>
                    </a:lnL>
                    <a:lnR w="12700" cap="flat" cmpd="sng" algn="ctr">
                      <a:solidFill>
                        <a:srgbClr val="C7B6AE"/>
                      </a:solidFill>
                      <a:prstDash val="solid"/>
                      <a:round/>
                      <a:headEnd type="none" w="med" len="med"/>
                      <a:tailEnd type="none" w="med" len="med"/>
                    </a:lnR>
                    <a:lnT w="12700" cap="flat" cmpd="sng" algn="ctr">
                      <a:solidFill>
                        <a:srgbClr val="B9A9A2"/>
                      </a:solidFill>
                      <a:prstDash val="solid"/>
                      <a:round/>
                      <a:headEnd type="none" w="med" len="med"/>
                      <a:tailEnd type="none" w="med" len="med"/>
                    </a:lnT>
                    <a:lnB w="12700" cap="flat" cmpd="sng" algn="ctr">
                      <a:solidFill>
                        <a:srgbClr val="C7B6AE"/>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02</a:t>
                      </a:r>
                      <a:endParaRPr lang="en-US" sz="1300" dirty="0">
                        <a:latin typeface="Arial" charset="0"/>
                        <a:ea typeface="Arial" charset="0"/>
                        <a:cs typeface="Arial" charset="0"/>
                      </a:endParaRPr>
                    </a:p>
                  </a:txBody>
                  <a:tcPr marL="57785" marR="57785" marT="57785" marB="57785">
                    <a:lnL w="12700" cap="flat" cmpd="sng" algn="ctr">
                      <a:solidFill>
                        <a:srgbClr val="C7B6AE"/>
                      </a:solidFill>
                      <a:prstDash val="solid"/>
                      <a:round/>
                      <a:headEnd type="none" w="med" len="med"/>
                      <a:tailEnd type="none" w="med" len="med"/>
                    </a:lnL>
                    <a:lnR w="12700" cap="flat" cmpd="sng" algn="ctr">
                      <a:solidFill>
                        <a:srgbClr val="C7B6AE"/>
                      </a:solidFill>
                      <a:prstDash val="solid"/>
                      <a:round/>
                      <a:headEnd type="none" w="med" len="med"/>
                      <a:tailEnd type="none" w="med" len="med"/>
                    </a:lnR>
                    <a:lnT w="12700" cap="flat" cmpd="sng" algn="ctr">
                      <a:solidFill>
                        <a:srgbClr val="C7B6AE"/>
                      </a:solidFill>
                      <a:prstDash val="solid"/>
                      <a:round/>
                      <a:headEnd type="none" w="med" len="med"/>
                      <a:tailEnd type="none" w="med" len="med"/>
                    </a:lnT>
                    <a:lnB w="12700" cap="flat" cmpd="sng" algn="ctr">
                      <a:solidFill>
                        <a:srgbClr val="C7B6AE"/>
                      </a:solidFill>
                      <a:prstDash val="solid"/>
                      <a:round/>
                      <a:headEnd type="none" w="med" len="med"/>
                      <a:tailEnd type="none" w="med" len="med"/>
                    </a:lnB>
                  </a:tcPr>
                </a:tc>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"No PO, no pay" with a short list of agreed exceptions</a:t>
                      </a:r>
                      <a:endParaRPr lang="en-US" sz="1300" dirty="0">
                        <a:latin typeface="Arial" charset="0"/>
                        <a:ea typeface="Arial" charset="0"/>
                        <a:cs typeface="Arial" charset="0"/>
                      </a:endParaRPr>
                    </a:p>
                  </a:txBody>
                  <a:tcPr marL="57785" marR="57785" marT="57785" marB="57785">
                    <a:lnL w="12700" cap="flat" cmpd="sng" algn="ctr">
                      <a:solidFill>
                        <a:srgbClr val="C7B6AE"/>
                      </a:solidFill>
                      <a:prstDash val="solid"/>
                      <a:round/>
                      <a:headEnd type="none" w="med" len="med"/>
                      <a:tailEnd type="none" w="med" len="med"/>
                    </a:lnL>
                    <a:lnR w="12700" cap="flat" cmpd="sng" algn="ctr">
                      <a:solidFill>
                        <a:srgbClr val="C7B6AE"/>
                      </a:solidFill>
                      <a:prstDash val="solid"/>
                      <a:round/>
                      <a:headEnd type="none" w="med" len="med"/>
                      <a:tailEnd type="none" w="med" len="med"/>
                    </a:lnR>
                    <a:lnT w="12700" cap="flat" cmpd="sng" algn="ctr">
                      <a:solidFill>
                        <a:srgbClr val="C7B6AE"/>
                      </a:solidFill>
                      <a:prstDash val="solid"/>
                      <a:round/>
                      <a:headEnd type="none" w="med" len="med"/>
                      <a:tailEnd type="none" w="med" len="med"/>
                    </a:lnT>
                    <a:lnB w="12700" cap="flat" cmpd="sng" algn="ctr">
                      <a:solidFill>
                        <a:srgbClr val="C7B6AE"/>
                      </a:solidFill>
                      <a:prstDash val="solid"/>
                      <a:round/>
                      <a:headEnd type="none" w="med" len="med"/>
                      <a:tailEnd type="none" w="med" len="med"/>
                    </a:lnB>
                  </a:tcPr>
                </a:tc>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POs after invoices</a:t>
                      </a:r>
                      <a:endParaRPr lang="en-US" sz="1300" dirty="0">
                        <a:latin typeface="Arial" charset="0"/>
                        <a:ea typeface="Arial" charset="0"/>
                        <a:cs typeface="Arial" charset="0"/>
                      </a:endParaRPr>
                    </a:p>
                  </a:txBody>
                  <a:tcPr marL="57785" marR="57785" marT="57785" marB="57785">
                    <a:lnL w="12700" cap="flat" cmpd="sng" algn="ctr">
                      <a:solidFill>
                        <a:srgbClr val="C7B6AE"/>
                      </a:solidFill>
                      <a:prstDash val="solid"/>
                      <a:round/>
                      <a:headEnd type="none" w="med" len="med"/>
                      <a:tailEnd type="none" w="med" len="med"/>
                    </a:lnL>
                    <a:lnR w="12700" cap="flat" cmpd="sng" algn="ctr">
                      <a:solidFill>
                        <a:srgbClr val="C7B6AE"/>
                      </a:solidFill>
                      <a:prstDash val="solid"/>
                      <a:round/>
                      <a:headEnd type="none" w="med" len="med"/>
                      <a:tailEnd type="none" w="med" len="med"/>
                    </a:lnR>
                    <a:lnT w="12700" cap="flat" cmpd="sng" algn="ctr">
                      <a:solidFill>
                        <a:srgbClr val="C7B6AE"/>
                      </a:solidFill>
                      <a:prstDash val="solid"/>
                      <a:round/>
                      <a:headEnd type="none" w="med" len="med"/>
                      <a:tailEnd type="none" w="med" len="med"/>
                    </a:lnT>
                    <a:lnB w="12700" cap="flat" cmpd="sng" algn="ctr">
                      <a:solidFill>
                        <a:srgbClr val="C7B6AE"/>
                      </a:solidFill>
                      <a:prstDash val="solid"/>
                      <a:round/>
                      <a:headEnd type="none" w="med" len="med"/>
                      <a:tailEnd type="none" w="med" len="med"/>
                    </a:lnB>
                  </a:tcPr>
                </a:tc>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Policy</a:t>
                      </a:r>
                      <a:endParaRPr lang="en-US" sz="1300" dirty="0">
                        <a:latin typeface="Arial" charset="0"/>
                        <a:ea typeface="Arial" charset="0"/>
                        <a:cs typeface="Arial" charset="0"/>
                      </a:endParaRPr>
                    </a:p>
                  </a:txBody>
                  <a:tcPr marL="57785" marR="57785" marT="57785" marB="57785">
                    <a:lnL w="12700" cap="flat" cmpd="sng" algn="ctr">
                      <a:solidFill>
                        <a:srgbClr val="C7B6AE"/>
                      </a:solidFill>
                      <a:prstDash val="solid"/>
                      <a:round/>
                      <a:headEnd type="none" w="med" len="med"/>
                      <a:tailEnd type="none" w="med" len="med"/>
                    </a:lnL>
                    <a:lnR w="12700" cap="flat" cmpd="sng" algn="ctr">
                      <a:solidFill>
                        <a:srgbClr val="C7B6AE"/>
                      </a:solidFill>
                      <a:prstDash val="solid"/>
                      <a:round/>
                      <a:headEnd type="none" w="med" len="med"/>
                      <a:tailEnd type="none" w="med" len="med"/>
                    </a:lnR>
                    <a:lnT w="12700" cap="flat" cmpd="sng" algn="ctr">
                      <a:solidFill>
                        <a:srgbClr val="C7B6AE"/>
                      </a:solidFill>
                      <a:prstDash val="solid"/>
                      <a:round/>
                      <a:headEnd type="none" w="med" len="med"/>
                      <a:tailEnd type="none" w="med" len="med"/>
                    </a:lnT>
                    <a:lnB w="12700" cap="flat" cmpd="sng" algn="ctr">
                      <a:solidFill>
                        <a:srgbClr val="C7B6AE"/>
                      </a:solidFill>
                      <a:prstDash val="solid"/>
                      <a:round/>
                      <a:headEnd type="none" w="med" len="med"/>
                      <a:tailEnd type="none" w="med" len="med"/>
                    </a:lnB>
                  </a:tcPr>
                </a:tc>
                <a:extLst>
                  <a:ext uri="{0D108BD9-81ED-4DB2-BD59-A6C34878D82A}">
                    <a16:rowId xmlns:a16="http://schemas.microsoft.com/office/drawing/2014/main" val="10002"/>
                  </a:ext>
                </a:extLst>
              </a:tr>
              <a:tr h="588010">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03</a:t>
                      </a:r>
                      <a:endParaRPr lang="en-US" sz="1300" dirty="0">
                        <a:latin typeface="Arial" charset="0"/>
                        <a:ea typeface="Arial" charset="0"/>
                        <a:cs typeface="Arial" charset="0"/>
                      </a:endParaRPr>
                    </a:p>
                  </a:txBody>
                  <a:tcPr marL="57785" marR="57785" marT="57785" marB="57785">
                    <a:lnL w="12700" cap="flat" cmpd="sng" algn="ctr">
                      <a:solidFill>
                        <a:srgbClr val="C7B6AE"/>
                      </a:solidFill>
                      <a:prstDash val="solid"/>
                      <a:round/>
                      <a:headEnd type="none" w="med" len="med"/>
                      <a:tailEnd type="none" w="med" len="med"/>
                    </a:lnL>
                    <a:lnR w="12700" cap="flat" cmpd="sng" algn="ctr">
                      <a:solidFill>
                        <a:srgbClr val="C7B6AE"/>
                      </a:solidFill>
                      <a:prstDash val="solid"/>
                      <a:round/>
                      <a:headEnd type="none" w="med" len="med"/>
                      <a:tailEnd type="none" w="med" len="med"/>
                    </a:lnR>
                    <a:lnT w="12700" cap="flat" cmpd="sng" algn="ctr">
                      <a:solidFill>
                        <a:srgbClr val="C7B6AE"/>
                      </a:solidFill>
                      <a:prstDash val="solid"/>
                      <a:round/>
                      <a:headEnd type="none" w="med" len="med"/>
                      <a:tailEnd type="none" w="med" len="med"/>
                    </a:lnT>
                    <a:lnB w="12700" cap="flat" cmpd="sng" algn="ctr">
                      <a:solidFill>
                        <a:srgbClr val="C7B6AE"/>
                      </a:solidFill>
                      <a:prstDash val="solid"/>
                      <a:round/>
                      <a:headEnd type="none" w="med" len="med"/>
                      <a:tailEnd type="none" w="med" len="med"/>
                    </a:lnB>
                  </a:tcPr>
                </a:tc>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Receipt reminders, and VAT checks at invoice capture</a:t>
                      </a:r>
                      <a:endParaRPr lang="en-US" sz="1300" dirty="0">
                        <a:latin typeface="Arial" charset="0"/>
                        <a:ea typeface="Arial" charset="0"/>
                        <a:cs typeface="Arial" charset="0"/>
                      </a:endParaRPr>
                    </a:p>
                  </a:txBody>
                  <a:tcPr marL="57785" marR="57785" marT="57785" marB="57785">
                    <a:lnL w="12700" cap="flat" cmpd="sng" algn="ctr">
                      <a:solidFill>
                        <a:srgbClr val="C7B6AE"/>
                      </a:solidFill>
                      <a:prstDash val="solid"/>
                      <a:round/>
                      <a:headEnd type="none" w="med" len="med"/>
                      <a:tailEnd type="none" w="med" len="med"/>
                    </a:lnL>
                    <a:lnR w="12700" cap="flat" cmpd="sng" algn="ctr">
                      <a:solidFill>
                        <a:srgbClr val="C7B6AE"/>
                      </a:solidFill>
                      <a:prstDash val="solid"/>
                      <a:round/>
                      <a:headEnd type="none" w="med" len="med"/>
                      <a:tailEnd type="none" w="med" len="med"/>
                    </a:lnR>
                    <a:lnT w="12700" cap="flat" cmpd="sng" algn="ctr">
                      <a:solidFill>
                        <a:srgbClr val="C7B6AE"/>
                      </a:solidFill>
                      <a:prstDash val="solid"/>
                      <a:round/>
                      <a:headEnd type="none" w="med" len="med"/>
                      <a:tailEnd type="none" w="med" len="med"/>
                    </a:lnT>
                    <a:lnB w="12700" cap="flat" cmpd="sng" algn="ctr">
                      <a:solidFill>
                        <a:srgbClr val="C7B6AE"/>
                      </a:solidFill>
                      <a:prstDash val="solid"/>
                      <a:round/>
                      <a:headEnd type="none" w="med" len="med"/>
                      <a:tailEnd type="none" w="med" len="med"/>
                    </a:lnB>
                  </a:tcPr>
                </a:tc>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Invoice holds</a:t>
                      </a:r>
                      <a:endParaRPr lang="en-US" sz="1300" dirty="0">
                        <a:latin typeface="Arial" charset="0"/>
                        <a:ea typeface="Arial" charset="0"/>
                        <a:cs typeface="Arial" charset="0"/>
                      </a:endParaRPr>
                    </a:p>
                  </a:txBody>
                  <a:tcPr marL="57785" marR="57785" marT="57785" marB="57785">
                    <a:lnL w="12700" cap="flat" cmpd="sng" algn="ctr">
                      <a:solidFill>
                        <a:srgbClr val="C7B6AE"/>
                      </a:solidFill>
                      <a:prstDash val="solid"/>
                      <a:round/>
                      <a:headEnd type="none" w="med" len="med"/>
                      <a:tailEnd type="none" w="med" len="med"/>
                    </a:lnL>
                    <a:lnR w="12700" cap="flat" cmpd="sng" algn="ctr">
                      <a:solidFill>
                        <a:srgbClr val="C7B6AE"/>
                      </a:solidFill>
                      <a:prstDash val="solid"/>
                      <a:round/>
                      <a:headEnd type="none" w="med" len="med"/>
                      <a:tailEnd type="none" w="med" len="med"/>
                    </a:lnR>
                    <a:lnT w="12700" cap="flat" cmpd="sng" algn="ctr">
                      <a:solidFill>
                        <a:srgbClr val="C7B6AE"/>
                      </a:solidFill>
                      <a:prstDash val="solid"/>
                      <a:round/>
                      <a:headEnd type="none" w="med" len="med"/>
                      <a:tailEnd type="none" w="med" len="med"/>
                    </a:lnT>
                    <a:lnB w="12700" cap="flat" cmpd="sng" algn="ctr">
                      <a:solidFill>
                        <a:srgbClr val="C7B6AE"/>
                      </a:solidFill>
                      <a:prstDash val="solid"/>
                      <a:round/>
                      <a:headEnd type="none" w="med" len="med"/>
                      <a:tailEnd type="none" w="med" len="med"/>
                    </a:lnB>
                  </a:tcPr>
                </a:tc>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Process and configuration</a:t>
                      </a:r>
                      <a:endParaRPr lang="en-US" sz="1300" dirty="0">
                        <a:latin typeface="Arial" charset="0"/>
                        <a:ea typeface="Arial" charset="0"/>
                        <a:cs typeface="Arial" charset="0"/>
                      </a:endParaRPr>
                    </a:p>
                  </a:txBody>
                  <a:tcPr marL="57785" marR="57785" marT="57785" marB="57785">
                    <a:lnL w="12700" cap="flat" cmpd="sng" algn="ctr">
                      <a:solidFill>
                        <a:srgbClr val="C7B6AE"/>
                      </a:solidFill>
                      <a:prstDash val="solid"/>
                      <a:round/>
                      <a:headEnd type="none" w="med" len="med"/>
                      <a:tailEnd type="none" w="med" len="med"/>
                    </a:lnL>
                    <a:lnR w="12700" cap="flat" cmpd="sng" algn="ctr">
                      <a:solidFill>
                        <a:srgbClr val="C7B6AE"/>
                      </a:solidFill>
                      <a:prstDash val="solid"/>
                      <a:round/>
                      <a:headEnd type="none" w="med" len="med"/>
                      <a:tailEnd type="none" w="med" len="med"/>
                    </a:lnR>
                    <a:lnT w="12700" cap="flat" cmpd="sng" algn="ctr">
                      <a:solidFill>
                        <a:srgbClr val="C7B6AE"/>
                      </a:solidFill>
                      <a:prstDash val="solid"/>
                      <a:round/>
                      <a:headEnd type="none" w="med" len="med"/>
                      <a:tailEnd type="none" w="med" len="med"/>
                    </a:lnT>
                    <a:lnB w="12700" cap="flat" cmpd="sng" algn="ctr">
                      <a:solidFill>
                        <a:srgbClr val="C7B6AE"/>
                      </a:solidFill>
                      <a:prstDash val="solid"/>
                      <a:round/>
                      <a:headEnd type="none" w="med" len="med"/>
                      <a:tailEnd type="none" w="med" len="med"/>
                    </a:lnB>
                  </a:tcPr>
                </a:tc>
                <a:extLst>
                  <a:ext uri="{0D108BD9-81ED-4DB2-BD59-A6C34878D82A}">
                    <a16:rowId xmlns:a16="http://schemas.microsoft.com/office/drawing/2014/main" val="10003"/>
                  </a:ext>
                </a:extLst>
              </a:tr>
              <a:tr h="588010">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04</a:t>
                      </a:r>
                      <a:endParaRPr lang="en-US" sz="1300" dirty="0">
                        <a:latin typeface="Arial" charset="0"/>
                        <a:ea typeface="Arial" charset="0"/>
                        <a:cs typeface="Arial" charset="0"/>
                      </a:endParaRPr>
                    </a:p>
                  </a:txBody>
                  <a:tcPr marL="57785" marR="57785" marT="57785" marB="57785">
                    <a:lnL w="12700" cap="flat" cmpd="sng" algn="ctr">
                      <a:solidFill>
                        <a:srgbClr val="C7B6AE"/>
                      </a:solidFill>
                      <a:prstDash val="solid"/>
                      <a:round/>
                      <a:headEnd type="none" w="med" len="med"/>
                      <a:tailEnd type="none" w="med" len="med"/>
                    </a:lnL>
                    <a:lnR w="12700" cap="flat" cmpd="sng" algn="ctr">
                      <a:solidFill>
                        <a:srgbClr val="C7B6AE"/>
                      </a:solidFill>
                      <a:prstDash val="solid"/>
                      <a:round/>
                      <a:headEnd type="none" w="med" len="med"/>
                      <a:tailEnd type="none" w="med" len="med"/>
                    </a:lnR>
                    <a:lnT w="12700" cap="flat" cmpd="sng" algn="ctr">
                      <a:solidFill>
                        <a:srgbClr val="C7B6AE"/>
                      </a:solidFill>
                      <a:prstDash val="solid"/>
                      <a:round/>
                      <a:headEnd type="none" w="med" len="med"/>
                      <a:tailEnd type="none" w="med" len="med"/>
                    </a:lnT>
                    <a:lnB w="12700" cap="flat" cmpd="sng" algn="ctr">
                      <a:solidFill>
                        <a:srgbClr val="C7B6AE"/>
                      </a:solidFill>
                      <a:prstDash val="solid"/>
                      <a:round/>
                      <a:headEnd type="none" w="med" len="med"/>
                      <a:tailEnd type="none" w="med" len="med"/>
                    </a:lnB>
                  </a:tcPr>
                </a:tc>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More invoices through imaging; automatic POs from approved requisitions</a:t>
                      </a:r>
                      <a:endParaRPr lang="en-US" sz="1300" dirty="0">
                        <a:latin typeface="Arial" charset="0"/>
                        <a:ea typeface="Arial" charset="0"/>
                        <a:cs typeface="Arial" charset="0"/>
                      </a:endParaRPr>
                    </a:p>
                  </a:txBody>
                  <a:tcPr marL="57785" marR="57785" marT="57785" marB="57785">
                    <a:lnL w="12700" cap="flat" cmpd="sng" algn="ctr">
                      <a:solidFill>
                        <a:srgbClr val="C7B6AE"/>
                      </a:solidFill>
                      <a:prstDash val="solid"/>
                      <a:round/>
                      <a:headEnd type="none" w="med" len="med"/>
                      <a:tailEnd type="none" w="med" len="med"/>
                    </a:lnL>
                    <a:lnR w="12700" cap="flat" cmpd="sng" algn="ctr">
                      <a:solidFill>
                        <a:srgbClr val="C7B6AE"/>
                      </a:solidFill>
                      <a:prstDash val="solid"/>
                      <a:round/>
                      <a:headEnd type="none" w="med" len="med"/>
                      <a:tailEnd type="none" w="med" len="med"/>
                    </a:lnR>
                    <a:lnT w="12700" cap="flat" cmpd="sng" algn="ctr">
                      <a:solidFill>
                        <a:srgbClr val="C7B6AE"/>
                      </a:solidFill>
                      <a:prstDash val="solid"/>
                      <a:round/>
                      <a:headEnd type="none" w="med" len="med"/>
                      <a:tailEnd type="none" w="med" len="med"/>
                    </a:lnT>
                    <a:lnB w="12700" cap="flat" cmpd="sng" algn="ctr">
                      <a:solidFill>
                        <a:srgbClr val="C7B6AE"/>
                      </a:solidFill>
                      <a:prstDash val="solid"/>
                      <a:round/>
                      <a:headEnd type="none" w="med" len="med"/>
                      <a:tailEnd type="none" w="med" len="med"/>
                    </a:lnB>
                  </a:tcPr>
                </a:tc>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Manual work</a:t>
                      </a:r>
                      <a:endParaRPr lang="en-US" sz="1300" dirty="0">
                        <a:latin typeface="Arial" charset="0"/>
                        <a:ea typeface="Arial" charset="0"/>
                        <a:cs typeface="Arial" charset="0"/>
                      </a:endParaRPr>
                    </a:p>
                  </a:txBody>
                  <a:tcPr marL="57785" marR="57785" marT="57785" marB="57785">
                    <a:lnL w="12700" cap="flat" cmpd="sng" algn="ctr">
                      <a:solidFill>
                        <a:srgbClr val="C7B6AE"/>
                      </a:solidFill>
                      <a:prstDash val="solid"/>
                      <a:round/>
                      <a:headEnd type="none" w="med" len="med"/>
                      <a:tailEnd type="none" w="med" len="med"/>
                    </a:lnL>
                    <a:lnR w="12700" cap="flat" cmpd="sng" algn="ctr">
                      <a:solidFill>
                        <a:srgbClr val="C7B6AE"/>
                      </a:solidFill>
                      <a:prstDash val="solid"/>
                      <a:round/>
                      <a:headEnd type="none" w="med" len="med"/>
                      <a:tailEnd type="none" w="med" len="med"/>
                    </a:lnR>
                    <a:lnT w="12700" cap="flat" cmpd="sng" algn="ctr">
                      <a:solidFill>
                        <a:srgbClr val="C7B6AE"/>
                      </a:solidFill>
                      <a:prstDash val="solid"/>
                      <a:round/>
                      <a:headEnd type="none" w="med" len="med"/>
                      <a:tailEnd type="none" w="med" len="med"/>
                    </a:lnT>
                    <a:lnB w="12700" cap="flat" cmpd="sng" algn="ctr">
                      <a:solidFill>
                        <a:srgbClr val="C7B6AE"/>
                      </a:solidFill>
                      <a:prstDash val="solid"/>
                      <a:round/>
                      <a:headEnd type="none" w="med" len="med"/>
                      <a:tailEnd type="none" w="med" len="med"/>
                    </a:lnB>
                  </a:tcPr>
                </a:tc>
                <a:tc>
                  <a:txBody>
                    <a:bodyPr/>
                    <a:lstStyle/>
                    <a:p>
                      <a:pPr marL="0" indent="0">
                        <a:lnSpc>
                          <a:spcPts val="1820"/>
                        </a:lnSpc>
                        <a:buNone/>
                      </a:pPr>
                      <a:r>
                        <a:rPr lang="en-US" sz="1300" dirty="0">
                          <a:solidFill>
                            <a:srgbClr val="262626"/>
                          </a:solidFill>
                          <a:latin typeface="Arial" pitchFamily="34" charset="0"/>
                          <a:ea typeface="Arial" pitchFamily="34" charset="-122"/>
                          <a:cs typeface="Arial" pitchFamily="34" charset="-120"/>
                        </a:rPr>
                        <a:t>Configuration</a:t>
                      </a:r>
                      <a:endParaRPr lang="en-US" sz="1300" dirty="0">
                        <a:latin typeface="Arial" charset="0"/>
                        <a:ea typeface="Arial" charset="0"/>
                        <a:cs typeface="Arial" charset="0"/>
                      </a:endParaRPr>
                    </a:p>
                  </a:txBody>
                  <a:tcPr marL="57785" marR="57785" marT="57785" marB="57785">
                    <a:lnL w="12700" cap="flat" cmpd="sng" algn="ctr">
                      <a:solidFill>
                        <a:srgbClr val="C7B6AE"/>
                      </a:solidFill>
                      <a:prstDash val="solid"/>
                      <a:round/>
                      <a:headEnd type="none" w="med" len="med"/>
                      <a:tailEnd type="none" w="med" len="med"/>
                    </a:lnL>
                    <a:lnR w="12700" cap="flat" cmpd="sng" algn="ctr">
                      <a:solidFill>
                        <a:srgbClr val="C7B6AE"/>
                      </a:solidFill>
                      <a:prstDash val="solid"/>
                      <a:round/>
                      <a:headEnd type="none" w="med" len="med"/>
                      <a:tailEnd type="none" w="med" len="med"/>
                    </a:lnR>
                    <a:lnT w="12700" cap="flat" cmpd="sng" algn="ctr">
                      <a:solidFill>
                        <a:srgbClr val="C7B6AE"/>
                      </a:solidFill>
                      <a:prstDash val="solid"/>
                      <a:round/>
                      <a:headEnd type="none" w="med" len="med"/>
                      <a:tailEnd type="none" w="med" len="med"/>
                    </a:lnT>
                    <a:lnB w="12700" cap="flat" cmpd="sng" algn="ctr">
                      <a:solidFill>
                        <a:srgbClr val="C7B6AE"/>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812800" y="4768850"/>
            <a:ext cx="10883392"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04040"/>
                </a:solidFill>
                <a:latin typeface="Arial" pitchFamily="34" charset="0"/>
                <a:ea typeface="Arial" pitchFamily="34" charset="-122"/>
                <a:cs typeface="Arial" pitchFamily="34" charset="-120"/>
              </a:rPr>
              <a:t>Order reflects impact in this synthetic dataset. On the client's data we would re-rank by value at stake and effort.</a:t>
            </a:r>
            <a:endParaRPr lang="en-US" sz="1300" dirty="0"/>
          </a:p>
        </p:txBody>
      </p:sp>
      <p:sp>
        <p:nvSpPr>
          <p:cNvPr id="7" name="Text 4"/>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404040"/>
                </a:solidFill>
                <a:latin typeface="Courier New" pitchFamily="49" charset="0"/>
                <a:ea typeface="Courier New" pitchFamily="49" charset="-122"/>
                <a:cs typeface="Courier New" pitchFamily="49" charset="-120"/>
              </a:rPr>
              <a:t>VIZIO AI · DX STUDIO — SYNTHETIC DEMO DATA</a:t>
            </a:r>
            <a:endParaRPr lang="en-US" sz="1200" dirty="0"/>
          </a:p>
        </p:txBody>
      </p:sp>
      <p:sp>
        <p:nvSpPr>
          <p:cNvPr id="8" name="Text 5"/>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04040"/>
                </a:solidFill>
                <a:latin typeface="Courier New" pitchFamily="49" charset="0"/>
                <a:ea typeface="Courier New" pitchFamily="49" charset="-122"/>
                <a:cs typeface="Courier New"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5500" y="812800"/>
            <a:ext cx="0" cy="238760"/>
          </a:xfrm>
          <a:prstGeom prst="line">
            <a:avLst/>
          </a:prstGeom>
          <a:noFill/>
          <a:ln w="25400">
            <a:solidFill>
              <a:srgbClr val="DA3A38"/>
            </a:solidFill>
            <a:prstDash val="solid"/>
          </a:ln>
        </p:spPr>
        <p:txBody>
          <a:bodyPr/>
          <a:lstStyle/>
          <a:p>
            <a:endParaRPr lang="en-US"/>
          </a:p>
        </p:txBody>
      </p:sp>
      <p:sp>
        <p:nvSpPr>
          <p:cNvPr id="3" name="Text 1"/>
          <p:cNvSpPr/>
          <p:nvPr/>
        </p:nvSpPr>
        <p:spPr>
          <a:xfrm>
            <a:off x="939800" y="825500"/>
            <a:ext cx="1075258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95959"/>
                </a:solidFill>
                <a:latin typeface="Courier New" pitchFamily="49" charset="0"/>
                <a:ea typeface="Courier New" pitchFamily="49" charset="-122"/>
                <a:cs typeface="Courier New" pitchFamily="49" charset="-120"/>
              </a:rPr>
              <a:t>FROM DEMO TO PROJECT</a:t>
            </a:r>
            <a:endParaRPr lang="en-US" sz="1200" dirty="0"/>
          </a:p>
        </p:txBody>
      </p:sp>
      <p:sp>
        <p:nvSpPr>
          <p:cNvPr id="4" name="Text 2"/>
          <p:cNvSpPr>
            <a:spLocks noGrp="1"/>
          </p:cNvSpPr>
          <p:nvPr>
            <p:ph type="title"/>
          </p:nvPr>
        </p:nvSpPr>
        <p:spPr>
          <a:xfrm>
            <a:off x="812800" y="12039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0" i="1" dirty="0">
                <a:solidFill>
                  <a:srgbClr val="0D0D0D"/>
                </a:solidFill>
                <a:latin typeface="Georgia" pitchFamily="18" charset="0"/>
                <a:ea typeface="Georgia" pitchFamily="18" charset="-122"/>
                <a:cs typeface="Georgia" pitchFamily="18" charset="-120"/>
              </a:rPr>
              <a:t>What changes with real data</a:t>
            </a:r>
            <a:r>
              <a:rPr lang="en-US" sz="3200" b="0" i="1" dirty="0">
                <a:solidFill>
                  <a:srgbClr val="DA3A38"/>
                </a:solidFill>
                <a:latin typeface="Georgia" pitchFamily="18" charset="0"/>
                <a:ea typeface="Georgia" pitchFamily="18" charset="-122"/>
                <a:cs typeface="Georgia" pitchFamily="18" charset="-120"/>
              </a:rPr>
              <a:t>.</a:t>
            </a:r>
            <a:endParaRPr lang="en-US" sz="3200" dirty="0"/>
          </a:p>
        </p:txBody>
      </p:sp>
      <p:sp>
        <p:nvSpPr>
          <p:cNvPr id="5" name="Shape 3"/>
          <p:cNvSpPr/>
          <p:nvPr/>
        </p:nvSpPr>
        <p:spPr>
          <a:xfrm>
            <a:off x="815975" y="1979296"/>
            <a:ext cx="5175250" cy="1289050"/>
          </a:xfrm>
          <a:prstGeom prst="rect">
            <a:avLst/>
          </a:prstGeom>
          <a:solidFill>
            <a:srgbClr val="F7F7F7"/>
          </a:solidFill>
          <a:ln w="6350">
            <a:solidFill>
              <a:srgbClr val="0D0D0D">
                <a:alpha val="12000"/>
              </a:srgbClr>
            </a:solidFill>
            <a:prstDash val="solid"/>
          </a:ln>
        </p:spPr>
        <p:txBody>
          <a:bodyPr/>
          <a:lstStyle/>
          <a:p>
            <a:endParaRPr lang="en-US"/>
          </a:p>
        </p:txBody>
      </p:sp>
      <p:sp>
        <p:nvSpPr>
          <p:cNvPr id="6" name="Text 4"/>
          <p:cNvSpPr/>
          <p:nvPr/>
        </p:nvSpPr>
        <p:spPr>
          <a:xfrm>
            <a:off x="1071880" y="2184400"/>
            <a:ext cx="4803343" cy="330200"/>
          </a:xfrm>
          <a:prstGeom prst="rect">
            <a:avLst/>
          </a:prstGeom>
          <a:noFill/>
          <a:ln/>
        </p:spPr>
        <p:txBody>
          <a:bodyPr wrap="square" lIns="0" tIns="0" rIns="0" bIns="0" rtlCol="0" anchor="t">
            <a:normAutofit/>
          </a:bodyPr>
          <a:lstStyle/>
          <a:p>
            <a:pPr marL="0" indent="0" algn="l">
              <a:lnSpc>
                <a:spcPts val="2400"/>
              </a:lnSpc>
              <a:buNone/>
            </a:pPr>
            <a:r>
              <a:rPr lang="en-US" sz="2000" i="1" dirty="0">
                <a:solidFill>
                  <a:srgbClr val="0D0D0D"/>
                </a:solidFill>
                <a:latin typeface="Georgia" pitchFamily="18" charset="0"/>
                <a:ea typeface="Georgia" pitchFamily="18" charset="-122"/>
                <a:cs typeface="Georgia" pitchFamily="18" charset="-120"/>
              </a:rPr>
              <a:t>Case definition</a:t>
            </a:r>
            <a:endParaRPr lang="en-US" sz="2000" dirty="0"/>
          </a:p>
        </p:txBody>
      </p:sp>
      <p:sp>
        <p:nvSpPr>
          <p:cNvPr id="7" name="Text 5"/>
          <p:cNvSpPr/>
          <p:nvPr/>
        </p:nvSpPr>
        <p:spPr>
          <a:xfrm>
            <a:off x="1071880" y="2565400"/>
            <a:ext cx="480334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PO line as the main view, plus an invoice-level view: 120 non-PO invoices could not sit on a PO line here.</a:t>
            </a:r>
            <a:endParaRPr lang="en-US" sz="1400" dirty="0"/>
          </a:p>
        </p:txBody>
      </p:sp>
      <p:sp>
        <p:nvSpPr>
          <p:cNvPr id="8" name="Shape 6"/>
          <p:cNvSpPr/>
          <p:nvPr/>
        </p:nvSpPr>
        <p:spPr>
          <a:xfrm>
            <a:off x="6200775" y="1979296"/>
            <a:ext cx="5175250" cy="1289050"/>
          </a:xfrm>
          <a:prstGeom prst="rect">
            <a:avLst/>
          </a:prstGeom>
          <a:solidFill>
            <a:srgbClr val="F7F7F7"/>
          </a:solidFill>
          <a:ln w="6350">
            <a:solidFill>
              <a:srgbClr val="0D0D0D">
                <a:alpha val="12000"/>
              </a:srgbClr>
            </a:solidFill>
            <a:prstDash val="solid"/>
          </a:ln>
        </p:spPr>
        <p:txBody>
          <a:bodyPr/>
          <a:lstStyle/>
          <a:p>
            <a:endParaRPr lang="en-US"/>
          </a:p>
        </p:txBody>
      </p:sp>
      <p:sp>
        <p:nvSpPr>
          <p:cNvPr id="9" name="Text 7"/>
          <p:cNvSpPr/>
          <p:nvPr/>
        </p:nvSpPr>
        <p:spPr>
          <a:xfrm>
            <a:off x="6456680" y="2184400"/>
            <a:ext cx="4803343" cy="330200"/>
          </a:xfrm>
          <a:prstGeom prst="rect">
            <a:avLst/>
          </a:prstGeom>
          <a:noFill/>
          <a:ln/>
        </p:spPr>
        <p:txBody>
          <a:bodyPr wrap="square" lIns="0" tIns="0" rIns="0" bIns="0" rtlCol="0" anchor="t">
            <a:normAutofit/>
          </a:bodyPr>
          <a:lstStyle/>
          <a:p>
            <a:pPr marL="0" indent="0" algn="l">
              <a:lnSpc>
                <a:spcPts val="2400"/>
              </a:lnSpc>
              <a:buNone/>
            </a:pPr>
            <a:r>
              <a:rPr lang="en-US" sz="2000" i="1" dirty="0">
                <a:solidFill>
                  <a:srgbClr val="0D0D0D"/>
                </a:solidFill>
                <a:latin typeface="Georgia" pitchFamily="18" charset="0"/>
                <a:ea typeface="Georgia" pitchFamily="18" charset="-122"/>
                <a:cs typeface="Georgia" pitchFamily="18" charset="-120"/>
              </a:rPr>
              <a:t>System accounts</a:t>
            </a:r>
            <a:endParaRPr lang="en-US" sz="2000" dirty="0"/>
          </a:p>
        </p:txBody>
      </p:sp>
      <p:sp>
        <p:nvSpPr>
          <p:cNvPr id="10" name="Text 8"/>
          <p:cNvSpPr/>
          <p:nvPr/>
        </p:nvSpPr>
        <p:spPr>
          <a:xfrm>
            <a:off x="6456680" y="2565400"/>
            <a:ext cx="480334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Agree which Oracle user IDs are automated, so manual work is measured correctly.</a:t>
            </a:r>
            <a:endParaRPr lang="en-US" sz="1400" dirty="0"/>
          </a:p>
        </p:txBody>
      </p:sp>
      <p:sp>
        <p:nvSpPr>
          <p:cNvPr id="11" name="Shape 9"/>
          <p:cNvSpPr/>
          <p:nvPr/>
        </p:nvSpPr>
        <p:spPr>
          <a:xfrm>
            <a:off x="815975" y="3477896"/>
            <a:ext cx="5175250" cy="1289050"/>
          </a:xfrm>
          <a:prstGeom prst="rect">
            <a:avLst/>
          </a:prstGeom>
          <a:solidFill>
            <a:srgbClr val="F7F7F7"/>
          </a:solidFill>
          <a:ln w="6350">
            <a:solidFill>
              <a:srgbClr val="0D0D0D">
                <a:alpha val="12000"/>
              </a:srgbClr>
            </a:solidFill>
            <a:prstDash val="solid"/>
          </a:ln>
        </p:spPr>
        <p:txBody>
          <a:bodyPr/>
          <a:lstStyle/>
          <a:p>
            <a:endParaRPr lang="en-US"/>
          </a:p>
        </p:txBody>
      </p:sp>
      <p:sp>
        <p:nvSpPr>
          <p:cNvPr id="12" name="Text 10"/>
          <p:cNvSpPr/>
          <p:nvPr/>
        </p:nvSpPr>
        <p:spPr>
          <a:xfrm>
            <a:off x="1071880" y="3683000"/>
            <a:ext cx="4803343" cy="330200"/>
          </a:xfrm>
          <a:prstGeom prst="rect">
            <a:avLst/>
          </a:prstGeom>
          <a:noFill/>
          <a:ln/>
        </p:spPr>
        <p:txBody>
          <a:bodyPr wrap="square" lIns="0" tIns="0" rIns="0" bIns="0" rtlCol="0" anchor="t">
            <a:normAutofit/>
          </a:bodyPr>
          <a:lstStyle/>
          <a:p>
            <a:pPr marL="0" indent="0" algn="l">
              <a:lnSpc>
                <a:spcPts val="2400"/>
              </a:lnSpc>
              <a:buNone/>
            </a:pPr>
            <a:r>
              <a:rPr lang="en-US" sz="2000" i="1" dirty="0">
                <a:solidFill>
                  <a:srgbClr val="0D0D0D"/>
                </a:solidFill>
                <a:latin typeface="Georgia" pitchFamily="18" charset="0"/>
                <a:ea typeface="Georgia" pitchFamily="18" charset="-122"/>
                <a:cs typeface="Georgia" pitchFamily="18" charset="-120"/>
              </a:rPr>
              <a:t>Work outside Oracle</a:t>
            </a:r>
            <a:endParaRPr lang="en-US" sz="2000" dirty="0"/>
          </a:p>
        </p:txBody>
      </p:sp>
      <p:sp>
        <p:nvSpPr>
          <p:cNvPr id="13" name="Text 11"/>
          <p:cNvSpPr/>
          <p:nvPr/>
        </p:nvSpPr>
        <p:spPr>
          <a:xfrm>
            <a:off x="1071880" y="4064000"/>
            <a:ext cx="480334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Bring in approvals and exceptions handled by email or spreadsheets, where that data exists.</a:t>
            </a:r>
            <a:endParaRPr lang="en-US" sz="1400" dirty="0"/>
          </a:p>
        </p:txBody>
      </p:sp>
      <p:sp>
        <p:nvSpPr>
          <p:cNvPr id="14" name="Shape 12"/>
          <p:cNvSpPr/>
          <p:nvPr/>
        </p:nvSpPr>
        <p:spPr>
          <a:xfrm>
            <a:off x="6200775" y="3477896"/>
            <a:ext cx="5175250" cy="1289050"/>
          </a:xfrm>
          <a:prstGeom prst="rect">
            <a:avLst/>
          </a:prstGeom>
          <a:solidFill>
            <a:srgbClr val="F7F7F7"/>
          </a:solidFill>
          <a:ln w="6350">
            <a:solidFill>
              <a:srgbClr val="0D0D0D">
                <a:alpha val="12000"/>
              </a:srgbClr>
            </a:solidFill>
            <a:prstDash val="solid"/>
          </a:ln>
        </p:spPr>
        <p:txBody>
          <a:bodyPr/>
          <a:lstStyle/>
          <a:p>
            <a:endParaRPr lang="en-US"/>
          </a:p>
        </p:txBody>
      </p:sp>
      <p:sp>
        <p:nvSpPr>
          <p:cNvPr id="15" name="Text 13"/>
          <p:cNvSpPr/>
          <p:nvPr/>
        </p:nvSpPr>
        <p:spPr>
          <a:xfrm>
            <a:off x="6456680" y="3683000"/>
            <a:ext cx="4803343" cy="330200"/>
          </a:xfrm>
          <a:prstGeom prst="rect">
            <a:avLst/>
          </a:prstGeom>
          <a:noFill/>
          <a:ln/>
        </p:spPr>
        <p:txBody>
          <a:bodyPr wrap="square" lIns="0" tIns="0" rIns="0" bIns="0" rtlCol="0" anchor="t">
            <a:normAutofit/>
          </a:bodyPr>
          <a:lstStyle/>
          <a:p>
            <a:pPr marL="0" indent="0" algn="l">
              <a:lnSpc>
                <a:spcPts val="2400"/>
              </a:lnSpc>
              <a:buNone/>
            </a:pPr>
            <a:r>
              <a:rPr lang="en-US" sz="2000" i="1" dirty="0">
                <a:solidFill>
                  <a:srgbClr val="0D0D0D"/>
                </a:solidFill>
                <a:latin typeface="Georgia" pitchFamily="18" charset="0"/>
                <a:ea typeface="Georgia" pitchFamily="18" charset="-122"/>
                <a:cs typeface="Georgia" pitchFamily="18" charset="-120"/>
              </a:rPr>
              <a:t>Customizations</a:t>
            </a:r>
            <a:endParaRPr lang="en-US" sz="2000" dirty="0"/>
          </a:p>
        </p:txBody>
      </p:sp>
      <p:sp>
        <p:nvSpPr>
          <p:cNvPr id="16" name="Text 14"/>
          <p:cNvSpPr/>
          <p:nvPr/>
        </p:nvSpPr>
        <p:spPr>
          <a:xfrm>
            <a:off x="6456680" y="4064000"/>
            <a:ext cx="480334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262626"/>
                </a:solidFill>
                <a:latin typeface="Arial" pitchFamily="34" charset="0"/>
                <a:ea typeface="Arial" pitchFamily="34" charset="-122"/>
                <a:cs typeface="Arial" pitchFamily="34" charset="-120"/>
              </a:rPr>
              <a:t>Map the client's custom fields and approval flows before building the event log.</a:t>
            </a:r>
            <a:endParaRPr lang="en-US" sz="1400" dirty="0"/>
          </a:p>
        </p:txBody>
      </p:sp>
      <p:sp>
        <p:nvSpPr>
          <p:cNvPr id="17" name="Text 15"/>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595959"/>
                </a:solidFill>
                <a:latin typeface="Courier New" pitchFamily="49" charset="0"/>
                <a:ea typeface="Courier New" pitchFamily="49" charset="-122"/>
                <a:cs typeface="Courier New" pitchFamily="49" charset="-120"/>
              </a:rPr>
              <a:t>VIZIO AI · DX STUDIO — SYNTHETIC DEMO DATA</a:t>
            </a:r>
            <a:endParaRPr lang="en-US" sz="1200" dirty="0"/>
          </a:p>
        </p:txBody>
      </p:sp>
      <p:sp>
        <p:nvSpPr>
          <p:cNvPr id="18" name="Text 16"/>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95959"/>
                </a:solidFill>
                <a:latin typeface="Courier New" pitchFamily="49" charset="0"/>
                <a:ea typeface="Courier New" pitchFamily="49" charset="-122"/>
                <a:cs typeface="Courier New"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825500" y="812800"/>
            <a:ext cx="0" cy="238760"/>
          </a:xfrm>
          <a:prstGeom prst="line">
            <a:avLst/>
          </a:prstGeom>
          <a:noFill/>
          <a:ln w="25400">
            <a:solidFill>
              <a:srgbClr val="DA3A38"/>
            </a:solidFill>
            <a:prstDash val="solid"/>
          </a:ln>
        </p:spPr>
        <p:txBody>
          <a:bodyPr/>
          <a:lstStyle/>
          <a:p>
            <a:endParaRPr lang="en-US"/>
          </a:p>
        </p:txBody>
      </p:sp>
      <p:sp>
        <p:nvSpPr>
          <p:cNvPr id="3" name="Text 1"/>
          <p:cNvSpPr/>
          <p:nvPr/>
        </p:nvSpPr>
        <p:spPr>
          <a:xfrm>
            <a:off x="939800" y="825500"/>
            <a:ext cx="1075258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B3B3B3"/>
                </a:solidFill>
                <a:latin typeface="Courier New" pitchFamily="49" charset="0"/>
                <a:ea typeface="Courier New" pitchFamily="49" charset="-122"/>
                <a:cs typeface="Courier New" pitchFamily="49" charset="-120"/>
              </a:rPr>
              <a:t>NEXT STEPS</a:t>
            </a:r>
            <a:endParaRPr lang="en-US" sz="1200" dirty="0"/>
          </a:p>
        </p:txBody>
      </p:sp>
      <p:sp>
        <p:nvSpPr>
          <p:cNvPr id="4" name="Text 2"/>
          <p:cNvSpPr>
            <a:spLocks noGrp="1"/>
          </p:cNvSpPr>
          <p:nvPr>
            <p:ph type="title"/>
          </p:nvPr>
        </p:nvSpPr>
        <p:spPr>
          <a:xfrm>
            <a:off x="812800" y="1203964"/>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0" i="1" dirty="0">
                <a:solidFill>
                  <a:srgbClr val="FFFFFF"/>
                </a:solidFill>
                <a:latin typeface="Georgia" pitchFamily="18" charset="0"/>
                <a:ea typeface="Georgia" pitchFamily="18" charset="-122"/>
                <a:cs typeface="Georgia" pitchFamily="18" charset="-120"/>
              </a:rPr>
              <a:t>How we would run the real project</a:t>
            </a:r>
            <a:r>
              <a:rPr lang="en-US" sz="3200" b="0" i="1" dirty="0">
                <a:solidFill>
                  <a:srgbClr val="DA3A38"/>
                </a:solidFill>
                <a:latin typeface="Georgia" pitchFamily="18" charset="0"/>
                <a:ea typeface="Georgia" pitchFamily="18" charset="-122"/>
                <a:cs typeface="Georgia" pitchFamily="18" charset="-120"/>
              </a:rPr>
              <a:t>.</a:t>
            </a:r>
            <a:endParaRPr lang="en-US" sz="3200" dirty="0"/>
          </a:p>
        </p:txBody>
      </p:sp>
      <p:sp>
        <p:nvSpPr>
          <p:cNvPr id="5" name="Text 3"/>
          <p:cNvSpPr/>
          <p:nvPr/>
        </p:nvSpPr>
        <p:spPr>
          <a:xfrm>
            <a:off x="812800" y="2072642"/>
            <a:ext cx="5588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3B3B3"/>
                </a:solidFill>
                <a:latin typeface="Courier New" pitchFamily="49" charset="0"/>
                <a:ea typeface="Courier New" pitchFamily="49" charset="-122"/>
                <a:cs typeface="Courier New" pitchFamily="49" charset="-120"/>
              </a:rPr>
              <a:t>01</a:t>
            </a:r>
            <a:endParaRPr lang="en-US" sz="1400" dirty="0"/>
          </a:p>
        </p:txBody>
      </p:sp>
      <p:sp>
        <p:nvSpPr>
          <p:cNvPr id="6" name="Text 4"/>
          <p:cNvSpPr/>
          <p:nvPr/>
        </p:nvSpPr>
        <p:spPr>
          <a:xfrm>
            <a:off x="1574800" y="2026921"/>
            <a:ext cx="1009853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Arial" pitchFamily="34" charset="0"/>
                <a:ea typeface="Arial" pitchFamily="34" charset="-122"/>
                <a:cs typeface="Arial" pitchFamily="34" charset="-120"/>
              </a:rPr>
              <a:t>Agree the scope, the case definition and the priority questions.</a:t>
            </a:r>
            <a:endParaRPr lang="en-US" sz="1600" dirty="0"/>
          </a:p>
        </p:txBody>
      </p:sp>
      <p:sp>
        <p:nvSpPr>
          <p:cNvPr id="7" name="Text 5"/>
          <p:cNvSpPr/>
          <p:nvPr/>
        </p:nvSpPr>
        <p:spPr>
          <a:xfrm>
            <a:off x="812800" y="2545079"/>
            <a:ext cx="5588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3B3B3"/>
                </a:solidFill>
                <a:latin typeface="Courier New" pitchFamily="49" charset="0"/>
                <a:ea typeface="Courier New" pitchFamily="49" charset="-122"/>
                <a:cs typeface="Courier New" pitchFamily="49" charset="-120"/>
              </a:rPr>
              <a:t>02</a:t>
            </a:r>
            <a:endParaRPr lang="en-US" sz="1400" dirty="0"/>
          </a:p>
        </p:txBody>
      </p:sp>
      <p:sp>
        <p:nvSpPr>
          <p:cNvPr id="8" name="Text 6"/>
          <p:cNvSpPr/>
          <p:nvPr/>
        </p:nvSpPr>
        <p:spPr>
          <a:xfrm>
            <a:off x="1574800" y="2499364"/>
            <a:ext cx="1009853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Arial" pitchFamily="34" charset="0"/>
                <a:ea typeface="Arial" pitchFamily="34" charset="-122"/>
                <a:cs typeface="Arial" pitchFamily="34" charset="-120"/>
              </a:rPr>
              <a:t>Confirm the data route: Oracle Fusion extracts or a controlled sandbox.</a:t>
            </a:r>
            <a:endParaRPr lang="en-US" sz="1600" dirty="0"/>
          </a:p>
        </p:txBody>
      </p:sp>
      <p:sp>
        <p:nvSpPr>
          <p:cNvPr id="9" name="Text 7"/>
          <p:cNvSpPr/>
          <p:nvPr/>
        </p:nvSpPr>
        <p:spPr>
          <a:xfrm>
            <a:off x="812800" y="3017521"/>
            <a:ext cx="5588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3B3B3"/>
                </a:solidFill>
                <a:latin typeface="Courier New" pitchFamily="49" charset="0"/>
                <a:ea typeface="Courier New" pitchFamily="49" charset="-122"/>
                <a:cs typeface="Courier New" pitchFamily="49" charset="-120"/>
              </a:rPr>
              <a:t>03</a:t>
            </a:r>
            <a:endParaRPr lang="en-US" sz="1400" dirty="0"/>
          </a:p>
        </p:txBody>
      </p:sp>
      <p:sp>
        <p:nvSpPr>
          <p:cNvPr id="10" name="Text 8"/>
          <p:cNvSpPr/>
          <p:nvPr/>
        </p:nvSpPr>
        <p:spPr>
          <a:xfrm>
            <a:off x="1574800" y="2971800"/>
            <a:ext cx="1009853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Arial" pitchFamily="34" charset="0"/>
                <a:ea typeface="Arial" pitchFamily="34" charset="-122"/>
                <a:cs typeface="Arial" pitchFamily="34" charset="-120"/>
              </a:rPr>
              <a:t>Build and validate the event log on two years of P2P data.</a:t>
            </a:r>
            <a:endParaRPr lang="en-US" sz="1600" dirty="0"/>
          </a:p>
        </p:txBody>
      </p:sp>
      <p:sp>
        <p:nvSpPr>
          <p:cNvPr id="11" name="Text 9"/>
          <p:cNvSpPr/>
          <p:nvPr/>
        </p:nvSpPr>
        <p:spPr>
          <a:xfrm>
            <a:off x="812800" y="3489964"/>
            <a:ext cx="5588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3B3B3"/>
                </a:solidFill>
                <a:latin typeface="Courier New" pitchFamily="49" charset="0"/>
                <a:ea typeface="Courier New" pitchFamily="49" charset="-122"/>
                <a:cs typeface="Courier New" pitchFamily="49" charset="-120"/>
              </a:rPr>
              <a:t>04</a:t>
            </a:r>
            <a:endParaRPr lang="en-US" sz="1400" dirty="0"/>
          </a:p>
        </p:txBody>
      </p:sp>
      <p:sp>
        <p:nvSpPr>
          <p:cNvPr id="12" name="Text 10"/>
          <p:cNvSpPr/>
          <p:nvPr/>
        </p:nvSpPr>
        <p:spPr>
          <a:xfrm>
            <a:off x="1574800" y="3444242"/>
            <a:ext cx="1009853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Arial" pitchFamily="34" charset="0"/>
                <a:ea typeface="Arial" pitchFamily="34" charset="-122"/>
                <a:cs typeface="Arial" pitchFamily="34" charset="-120"/>
              </a:rPr>
              <a:t>Choose the mining layer, Microsoft or Celonis, once the data is in.</a:t>
            </a:r>
            <a:endParaRPr lang="en-US" sz="1600" dirty="0"/>
          </a:p>
        </p:txBody>
      </p:sp>
      <p:sp>
        <p:nvSpPr>
          <p:cNvPr id="13" name="Text 11"/>
          <p:cNvSpPr/>
          <p:nvPr/>
        </p:nvSpPr>
        <p:spPr>
          <a:xfrm>
            <a:off x="812800" y="3962400"/>
            <a:ext cx="5588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3B3B3"/>
                </a:solidFill>
                <a:latin typeface="Courier New" pitchFamily="49" charset="0"/>
                <a:ea typeface="Courier New" pitchFamily="49" charset="-122"/>
                <a:cs typeface="Courier New" pitchFamily="49" charset="-120"/>
              </a:rPr>
              <a:t>05</a:t>
            </a:r>
            <a:endParaRPr lang="en-US" sz="1400" dirty="0"/>
          </a:p>
        </p:txBody>
      </p:sp>
      <p:sp>
        <p:nvSpPr>
          <p:cNvPr id="14" name="Text 12"/>
          <p:cNvSpPr/>
          <p:nvPr/>
        </p:nvSpPr>
        <p:spPr>
          <a:xfrm>
            <a:off x="1574800" y="3916679"/>
            <a:ext cx="1009853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FFFF"/>
                </a:solidFill>
                <a:latin typeface="Arial" pitchFamily="34" charset="0"/>
                <a:ea typeface="Arial" pitchFamily="34" charset="-122"/>
                <a:cs typeface="Arial" pitchFamily="34" charset="-120"/>
              </a:rPr>
              <a:t>Deliver the dashboard, the findings report and prioritized recommendations.</a:t>
            </a:r>
            <a:endParaRPr lang="en-US" sz="1600" dirty="0"/>
          </a:p>
        </p:txBody>
      </p:sp>
      <p:sp>
        <p:nvSpPr>
          <p:cNvPr id="15" name="Text 13"/>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B3B3B3"/>
                </a:solidFill>
                <a:latin typeface="Courier New" pitchFamily="49" charset="0"/>
                <a:ea typeface="Courier New" pitchFamily="49" charset="-122"/>
                <a:cs typeface="Courier New" pitchFamily="49" charset="-120"/>
              </a:rPr>
              <a:t>VIZIO AI · DX STUDIO</a:t>
            </a:r>
            <a:endParaRPr lang="en-US" sz="1200" dirty="0"/>
          </a:p>
        </p:txBody>
      </p:sp>
      <p:sp>
        <p:nvSpPr>
          <p:cNvPr id="16" name="Text 14"/>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3B3B3"/>
                </a:solidFill>
                <a:latin typeface="Courier New" pitchFamily="49" charset="0"/>
                <a:ea typeface="Courier New" pitchFamily="49" charset="-122"/>
                <a:cs typeface="Courier New" pitchFamily="49" charset="-120"/>
              </a:rPr>
              <a:t>12</a:t>
            </a:r>
            <a:endParaRPr lang="en-US" sz="1200" dirty="0"/>
          </a:p>
        </p:txBody>
      </p:sp>
    </p:spTree>
  </p:cSld>
  <p:clrMapOvr>
    <a:masterClrMapping/>
  </p:clrMapOvr>
</p:sld>
</file>

<file path=ppt/theme/theme1.xml><?xml version="1.0" encoding="utf-8"?>
<a:theme xmlns:a="http://schemas.openxmlformats.org/drawingml/2006/main" name="P2P Process Mining PoC – Demo Findings">
  <a:themeElements>
    <a:clrScheme name="P2P Process Mining PoC – Demo Findings">
      <a:dk1>
        <a:srgbClr val="595959"/>
      </a:dk1>
      <a:lt1>
        <a:srgbClr val="FFFFFF"/>
      </a:lt1>
      <a:dk2>
        <a:srgbClr val="838383"/>
      </a:dk2>
      <a:lt2>
        <a:srgbClr val="EEEEEE"/>
      </a:lt2>
      <a:accent1>
        <a:srgbClr val="DA3A38"/>
      </a:accent1>
      <a:accent2>
        <a:srgbClr val="262626"/>
      </a:accent2>
      <a:accent3>
        <a:srgbClr val="B3B3B3"/>
      </a:accent3>
      <a:accent4>
        <a:srgbClr val="404040"/>
      </a:accent4>
      <a:accent5>
        <a:srgbClr val="CCCCCC"/>
      </a:accent5>
      <a:accent6>
        <a:srgbClr val="F9E4DA"/>
      </a:accent6>
      <a:hlink>
        <a:srgbClr val="0563C1"/>
      </a:hlink>
      <a:folHlink>
        <a:srgbClr val="954F72"/>
      </a:folHlink>
    </a:clrScheme>
    <a:fontScheme name="P2P Process Mining PoC – Demo Findings">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urier Ne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1929</Words>
  <Application>Microsoft Office PowerPoint</Application>
  <PresentationFormat>Widescreen</PresentationFormat>
  <Paragraphs>219</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Courier New</vt:lpstr>
      <vt:lpstr>Georgia</vt:lpstr>
      <vt:lpstr>P2P Process Mining PoC – Demo Findings</vt:lpstr>
      <vt:lpstr>Procure-to-pay, as it actually runs.</vt:lpstr>
      <vt:lpstr>What we built for this demo.</vt:lpstr>
      <vt:lpstr>From Oracle tables to an event log.</vt:lpstr>
      <vt:lpstr>The process at a glance.</vt:lpstr>
      <vt:lpstr>Approval delays sit with one approver.</vt:lpstr>
      <vt:lpstr>Some POs are raised after the invoice.</vt:lpstr>
      <vt:lpstr>One in three invoiced lines hits a hold.</vt:lpstr>
      <vt:lpstr>Most steps are still done by hand.</vt:lpstr>
      <vt:lpstr>Late payments need a different explanation.</vt:lpstr>
      <vt:lpstr>Where we would start.</vt:lpstr>
      <vt:lpstr>What changes with real data.</vt:lpstr>
      <vt:lpstr>How we would run the real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P2P Process Mining PoC – Demo Findings</dc:title>
  <dc:subject/>
  <dc:creator/>
  <cp:lastModifiedBy>Alihan Emre Tunc</cp:lastModifiedBy>
  <cp:revision>1</cp:revision>
  <dcterms:created xsi:type="dcterms:W3CDTF">2026-10-09T08:11:05Z</dcterms:created>
  <dcterms:modified xsi:type="dcterms:W3CDTF">2026-10-09T08:34:26Z</dcterms:modified>
</cp:coreProperties>
</file>